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7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tags" Target="../tags/tag1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jpeg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tags" Target="../tags/tag2.xml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cov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8412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75"/>
              </a:spcAft>
            </a:pPr>
            <a:r>
              <a:rPr sz="125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UAVFIRE · 面向消防救援的空地一体化作业平台</a:t>
            </a:r>
            <a:endParaRPr sz="125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86384" y="1225296"/>
            <a:ext cx="566928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070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40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智能集群大载重</a:t>
            </a:r>
            <a:endParaRPr sz="40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40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无人机灭火系统</a:t>
            </a:r>
            <a:endParaRPr sz="40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3913632"/>
            <a:ext cx="7223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5"/>
              </a:spcAft>
            </a:pPr>
            <a:r>
              <a:rPr sz="13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打通侦察发现、智能研判、重载处置的完整链路——用一套系统，把“看火的机”与“灭火的机”组织成一支协同作战的空中力量。</a:t>
            </a:r>
            <a:endParaRPr sz="13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" y="5230368"/>
            <a:ext cx="1225295" cy="402336"/>
          </a:xfrm>
          <a:prstGeom prst="roundRect">
            <a:avLst>
              <a:gd name="adj" fmla="val 5500"/>
            </a:avLst>
          </a:prstGeom>
          <a:solidFill>
            <a:srgbClr val="1A2A4A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317236"/>
            <a:ext cx="12252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45"/>
              </a:spcAft>
            </a:pPr>
            <a:r>
              <a:rPr sz="1150" b="0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森林消防</a:t>
            </a:r>
            <a:endParaRPr sz="1150" b="0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203703" y="5230368"/>
            <a:ext cx="1225295" cy="402336"/>
          </a:xfrm>
          <a:prstGeom prst="roundRect">
            <a:avLst>
              <a:gd name="adj" fmla="val 5500"/>
            </a:avLst>
          </a:prstGeom>
          <a:solidFill>
            <a:srgbClr val="1A2A4A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03703" y="5317236"/>
            <a:ext cx="12252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45"/>
              </a:spcAft>
            </a:pPr>
            <a:r>
              <a:rPr sz="1150" b="0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草原消防</a:t>
            </a:r>
            <a:endParaRPr sz="1150" b="0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630168" y="5230368"/>
            <a:ext cx="1609344" cy="402336"/>
          </a:xfrm>
          <a:prstGeom prst="roundRect">
            <a:avLst>
              <a:gd name="adj" fmla="val 5500"/>
            </a:avLst>
          </a:prstGeom>
          <a:solidFill>
            <a:srgbClr val="1A2A4A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5317236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45"/>
              </a:spcAft>
            </a:pPr>
            <a:r>
              <a:rPr sz="1150" b="0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大型仓储消防</a:t>
            </a:r>
            <a:endParaRPr sz="1150" b="0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40679" y="5230368"/>
            <a:ext cx="1225295" cy="402336"/>
          </a:xfrm>
          <a:prstGeom prst="roundRect">
            <a:avLst>
              <a:gd name="adj" fmla="val 5500"/>
            </a:avLst>
          </a:prstGeom>
          <a:solidFill>
            <a:srgbClr val="1A2A4A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79" y="5317236"/>
            <a:ext cx="12252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45"/>
              </a:spcAft>
            </a:pPr>
            <a:r>
              <a:rPr sz="1150" b="0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应急救援</a:t>
            </a:r>
            <a:endParaRPr sz="1150" b="0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67143" y="5230368"/>
            <a:ext cx="1225295" cy="402336"/>
          </a:xfrm>
          <a:prstGeom prst="roundRect">
            <a:avLst>
              <a:gd name="adj" fmla="val 5500"/>
            </a:avLst>
          </a:prstGeom>
          <a:solidFill>
            <a:srgbClr val="1A2A4A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67143" y="5317236"/>
            <a:ext cx="122529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45"/>
              </a:spcAft>
            </a:pPr>
            <a:r>
              <a:rPr sz="1150" b="0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物资投放</a:t>
            </a:r>
            <a:endParaRPr sz="1150" b="0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614476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2026 年 7 月 · 汇报材料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sectio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" y="434340"/>
            <a:ext cx="82296" cy="822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65760"/>
            <a:ext cx="6858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汇报内容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365760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896112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50"/>
              </a:spcAft>
            </a:pPr>
            <a:r>
              <a:rPr sz="25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从系统到场景，从能力到实战</a:t>
            </a:r>
            <a:endParaRPr sz="25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3504" y="1463040"/>
            <a:ext cx="50292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11000232" cy="987552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03704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80"/>
              </a:spcAft>
            </a:pPr>
            <a:r>
              <a:rPr sz="26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26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057400" y="2185415"/>
            <a:ext cx="14630" cy="548640"/>
          </a:xfrm>
          <a:prstGeom prst="rect">
            <a:avLst/>
          </a:prstGeom>
          <a:solidFill>
            <a:srgbClr val="2C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95728" y="212140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10"/>
              </a:spcAft>
            </a:pPr>
            <a:r>
              <a:rPr sz="17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系统概述</a:t>
            </a:r>
            <a:endParaRPr sz="17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95728" y="2514600"/>
            <a:ext cx="8869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45"/>
              </a:spcAft>
            </a:pPr>
            <a:r>
              <a:rPr sz="11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平台定位，与“侦察感知—指挥中枢—重载处置”三层体系</a:t>
            </a:r>
            <a:endParaRPr sz="11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3118104"/>
            <a:ext cx="11000232" cy="987552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355848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80"/>
              </a:spcAft>
            </a:pPr>
            <a:r>
              <a:rPr sz="26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26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057400" y="3337560"/>
            <a:ext cx="14630" cy="548640"/>
          </a:xfrm>
          <a:prstGeom prst="rect">
            <a:avLst/>
          </a:prstGeom>
          <a:solidFill>
            <a:srgbClr val="2C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5728" y="327355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10"/>
              </a:spcAft>
            </a:pPr>
            <a:r>
              <a:rPr sz="17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应用场景</a:t>
            </a:r>
            <a:endParaRPr sz="17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95728" y="3666744"/>
            <a:ext cx="8869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45"/>
              </a:spcAft>
            </a:pPr>
            <a:r>
              <a:rPr sz="11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森林、草原、大型仓储消防，以及应急救援、物资投放</a:t>
            </a:r>
            <a:endParaRPr sz="11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4360" y="4270248"/>
            <a:ext cx="11000232" cy="987552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07992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80"/>
              </a:spcAft>
            </a:pPr>
            <a:r>
              <a:rPr sz="26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26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057400" y="4489704"/>
            <a:ext cx="14630" cy="548640"/>
          </a:xfrm>
          <a:prstGeom prst="rect">
            <a:avLst/>
          </a:prstGeom>
          <a:solidFill>
            <a:srgbClr val="2C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95728" y="442569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10"/>
              </a:spcAft>
            </a:pPr>
            <a:r>
              <a:rPr sz="17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核心特点</a:t>
            </a:r>
            <a:endParaRPr sz="17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395728" y="4818888"/>
            <a:ext cx="8869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45"/>
              </a:spcAft>
            </a:pPr>
            <a:r>
              <a:rPr sz="11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跨行业融合、多模态识别、适航管理等六项核心能力</a:t>
            </a:r>
            <a:endParaRPr sz="11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94360" y="5422392"/>
            <a:ext cx="11000232" cy="987552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660136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80"/>
              </a:spcAft>
            </a:pPr>
            <a:r>
              <a:rPr sz="26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26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057400" y="5641848"/>
            <a:ext cx="14630" cy="548640"/>
          </a:xfrm>
          <a:prstGeom prst="rect">
            <a:avLst/>
          </a:prstGeom>
          <a:solidFill>
            <a:srgbClr val="2C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95728" y="55778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10"/>
              </a:spcAft>
            </a:pPr>
            <a:r>
              <a:rPr sz="17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实战与总结</a:t>
            </a:r>
            <a:endParaRPr sz="17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95728" y="5971031"/>
            <a:ext cx="8869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45"/>
              </a:spcAft>
            </a:pPr>
            <a:r>
              <a:rPr sz="11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一次完整接力的全流程，以及系统带来的三层价值</a:t>
            </a:r>
            <a:endParaRPr sz="11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" y="434340"/>
            <a:ext cx="82296" cy="822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65760"/>
            <a:ext cx="6858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 · 系统概述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365760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78638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20"/>
              </a:spcAft>
            </a:pPr>
            <a:r>
              <a:rPr sz="24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一个平台，统管“看火的机”与“灭火的机”</a:t>
            </a:r>
            <a:endParaRPr sz="24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3504" y="1335024"/>
            <a:ext cx="50292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17904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75"/>
              </a:spcAft>
            </a:pPr>
            <a:r>
              <a:rPr sz="12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面向消防救援实战，把两类原本分属不同行业体系的无人机——行业侦察机与大载重运载机——纳入同一套指挥平台：侦察机负责看得早、辨得准，运载机负责到得快、投得准，指挥员在一块屏幕上完成从发现火情到组织处置的全部动作。</a:t>
            </a:r>
            <a:endParaRPr sz="12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" y="2633472"/>
            <a:ext cx="3520440" cy="2240280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633472"/>
            <a:ext cx="64008" cy="2240280"/>
          </a:xfrm>
          <a:prstGeom prst="rect">
            <a:avLst/>
          </a:prstGeom>
          <a:solidFill>
            <a:srgbClr val="3A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85292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30"/>
              </a:spcAft>
            </a:pPr>
            <a:r>
              <a:rPr sz="11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侦察感知层</a:t>
            </a:r>
            <a:endParaRPr sz="11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7095" y="3181985"/>
            <a:ext cx="3166745" cy="275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80"/>
              </a:spcAft>
            </a:pPr>
            <a:r>
              <a:rPr sz="16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</a:t>
            </a:r>
            <a:r>
              <a:rPr lang="en-US" sz="16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atrice </a:t>
            </a:r>
            <a:r>
              <a:rPr sz="16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4T</a:t>
            </a:r>
            <a:r>
              <a:rPr lang="en-US" sz="16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/</a:t>
            </a:r>
            <a:r>
              <a:rPr lang="zh-CN" altLang="en-US" sz="16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机场</a:t>
            </a:r>
            <a:r>
              <a:rPr lang="en-US" altLang="zh-CN" sz="16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r>
              <a:rPr sz="16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行业侦察机</a:t>
            </a:r>
            <a:endParaRPr sz="16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6968" y="3639312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45"/>
              </a:spcAft>
            </a:pPr>
            <a:r>
              <a:rPr sz="11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可见光+热成像双光云台，昼夜自动巡查；</a:t>
            </a:r>
            <a:endParaRPr sz="11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0000"/>
              </a:lnSpc>
              <a:spcAft>
                <a:spcPts val="345"/>
              </a:spcAft>
            </a:pPr>
            <a:r>
              <a:rPr sz="11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实时识别烟、火与异常热源。</a:t>
            </a:r>
            <a:endParaRPr sz="11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288536" y="2633472"/>
            <a:ext cx="3520440" cy="2240280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2633472"/>
            <a:ext cx="64008" cy="2240280"/>
          </a:xfrm>
          <a:prstGeom prst="rect">
            <a:avLst/>
          </a:prstGeom>
          <a:solidFill>
            <a:srgbClr val="FF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85292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30"/>
              </a:spcAft>
            </a:pPr>
            <a:r>
              <a:rPr sz="110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指挥中枢层</a:t>
            </a:r>
            <a:endParaRPr sz="110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81144" y="3182112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80"/>
              </a:spcAft>
            </a:pPr>
            <a:r>
              <a:rPr sz="16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统一指挥平台</a:t>
            </a:r>
            <a:endParaRPr sz="16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81144" y="3639312"/>
            <a:ext cx="2971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45"/>
              </a:spcAft>
            </a:pPr>
            <a:r>
              <a:rPr sz="11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态势一屏统览；事件、航线、任务与权限统一调度，全程数据留痕。</a:t>
            </a:r>
            <a:endParaRPr sz="11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982712" y="2633472"/>
            <a:ext cx="3520440" cy="2240280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82712" y="2633472"/>
            <a:ext cx="64008" cy="22402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85292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30"/>
              </a:spcAft>
            </a:pPr>
            <a:r>
              <a:rPr sz="11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重载处置层</a:t>
            </a:r>
            <a:endParaRPr sz="11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75320" y="3182112"/>
            <a:ext cx="3017520" cy="275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80"/>
              </a:spcAft>
            </a:pPr>
            <a:r>
              <a:rPr sz="16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</a:t>
            </a:r>
            <a:r>
              <a:rPr lang="en-US" sz="16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ly</a:t>
            </a:r>
            <a:r>
              <a:rPr sz="16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</a:t>
            </a:r>
            <a:r>
              <a:rPr lang="en-US" sz="16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art </a:t>
            </a:r>
            <a:r>
              <a:rPr sz="16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100 大载重运载机</a:t>
            </a:r>
            <a:endParaRPr sz="16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75320" y="3639312"/>
            <a:ext cx="2971800" cy="459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45"/>
              </a:spcAft>
            </a:pPr>
            <a:r>
              <a:rPr lang="zh-CN" sz="11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满载</a:t>
            </a:r>
            <a:r>
              <a:rPr lang="en-US" altLang="zh-CN" sz="11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100</a:t>
            </a:r>
            <a:r>
              <a:rPr sz="11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公斤级运力，灭火弹与救援物资精准投送，到点自动脱钩。</a:t>
            </a:r>
            <a:endParaRPr sz="11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4360" y="5230368"/>
            <a:ext cx="11000232" cy="475488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34924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75"/>
              </a:spcAft>
            </a:pPr>
            <a:r>
              <a:rPr sz="125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侦察机发现火情  →  平台生成任务  →  运载机接力处置：三层能力在同一条链路上协同</a:t>
            </a:r>
            <a:endParaRPr sz="125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4360" y="5989320"/>
            <a:ext cx="10972800" cy="198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45"/>
              </a:spcAft>
            </a:pPr>
            <a:r>
              <a:rPr sz="11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对用户而言，这意味着：不再为不同机型部署不同系统、培训不同终端——一个平台，就是一支完整的空中消防</a:t>
            </a:r>
            <a:r>
              <a:rPr lang="en-US" sz="11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/</a:t>
            </a:r>
            <a:r>
              <a:rPr lang="zh-CN" altLang="en-US" sz="11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救援</a:t>
            </a:r>
            <a:r>
              <a:rPr sz="11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分队。</a:t>
            </a:r>
            <a:endParaRPr sz="11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" y="434340"/>
            <a:ext cx="82296" cy="822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65760"/>
            <a:ext cx="6858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 · 系统概述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365760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78638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20"/>
              </a:spcAft>
            </a:pPr>
            <a:r>
              <a:rPr sz="24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一次火情，从发现到复盘的完整闭环</a:t>
            </a:r>
            <a:endParaRPr sz="24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3504" y="1335024"/>
            <a:ext cx="50292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17904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75"/>
              </a:spcAft>
            </a:pPr>
            <a:r>
              <a:rPr sz="12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灭火不是单个动作，而是一串环环相扣的决策。系统把六个环节固化为标准作业链——每一步的输入都来自上一步的输出，不断链、不丢信息。</a:t>
            </a:r>
            <a:endParaRPr sz="12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Pentagon 8"/>
          <p:cNvSpPr/>
          <p:nvPr/>
        </p:nvSpPr>
        <p:spPr>
          <a:xfrm>
            <a:off x="594360" y="2670048"/>
            <a:ext cx="1920240" cy="621792"/>
          </a:xfrm>
          <a:prstGeom prst="homePlate">
            <a:avLst/>
          </a:prstGeom>
          <a:solidFill>
            <a:srgbClr val="1A2A4A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巡查发现</a:t>
            </a:r>
            <a:endParaRPr sz="13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0664" y="3493008"/>
            <a:ext cx="153619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15"/>
              </a:spcAft>
            </a:pPr>
            <a:r>
              <a:rPr sz="10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侦察机按预案航线自动巡查，画面实时回传</a:t>
            </a:r>
            <a:endParaRPr sz="10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380744" y="4892040"/>
            <a:ext cx="292608" cy="292608"/>
          </a:xfrm>
          <a:prstGeom prst="ellipse">
            <a:avLst/>
          </a:prstGeom>
          <a:solidFill>
            <a:srgbClr val="1A2A4A"/>
          </a:solidFill>
          <a:ln w="15240">
            <a:solidFill>
              <a:srgbClr val="728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050" b="1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2395728" y="2670048"/>
            <a:ext cx="1920240" cy="621792"/>
          </a:xfrm>
          <a:prstGeom prst="chevron">
            <a:avLst/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智能研判</a:t>
            </a:r>
            <a:endParaRPr sz="130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42032" y="3493008"/>
            <a:ext cx="153619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15"/>
              </a:spcAft>
            </a:pPr>
            <a:r>
              <a:rPr sz="10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对可见光与热成像画面融合识别、风险分级</a:t>
            </a:r>
            <a:endParaRPr sz="10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182112" y="4892040"/>
            <a:ext cx="292608" cy="292608"/>
          </a:xfrm>
          <a:prstGeom prst="ellipse">
            <a:avLst/>
          </a:prstGeom>
          <a:solidFill>
            <a:srgbClr val="1A2A4A"/>
          </a:solidFill>
          <a:ln w="15240">
            <a:solidFill>
              <a:srgbClr val="728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050" b="1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4197096" y="2670048"/>
            <a:ext cx="1920240" cy="621792"/>
          </a:xfrm>
          <a:prstGeom prst="chevron">
            <a:avLst/>
          </a:prstGeom>
          <a:solidFill>
            <a:srgbClr val="1A2A4A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事件确认</a:t>
            </a:r>
            <a:endParaRPr sz="13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43400" y="3493008"/>
            <a:ext cx="153619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15"/>
              </a:spcAft>
            </a:pPr>
            <a:r>
              <a:rPr sz="10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指挥员复核证据，确认火情、审批处置</a:t>
            </a:r>
            <a:endParaRPr sz="10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4983480" y="4892040"/>
            <a:ext cx="292608" cy="292608"/>
          </a:xfrm>
          <a:prstGeom prst="ellipse">
            <a:avLst/>
          </a:prstGeom>
          <a:solidFill>
            <a:srgbClr val="1A2A4A"/>
          </a:solidFill>
          <a:ln w="15240">
            <a:solidFill>
              <a:srgbClr val="728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050" b="1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Chevron 17"/>
          <p:cNvSpPr/>
          <p:nvPr/>
        </p:nvSpPr>
        <p:spPr>
          <a:xfrm>
            <a:off x="5998464" y="2670048"/>
            <a:ext cx="1920240" cy="621792"/>
          </a:xfrm>
          <a:prstGeom prst="chevron">
            <a:avLst/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航线生成</a:t>
            </a:r>
            <a:endParaRPr sz="13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44768" y="3493008"/>
            <a:ext cx="153619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15"/>
              </a:spcAft>
            </a:pPr>
            <a:r>
              <a:rPr sz="10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系统按火点坐标自动生成投放航线</a:t>
            </a:r>
            <a:endParaRPr sz="10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784848" y="4892040"/>
            <a:ext cx="292608" cy="292608"/>
          </a:xfrm>
          <a:prstGeom prst="ellipse">
            <a:avLst/>
          </a:prstGeom>
          <a:solidFill>
            <a:srgbClr val="1A2A4A"/>
          </a:solidFill>
          <a:ln w="15240">
            <a:solidFill>
              <a:srgbClr val="728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050" b="1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Chevron 20"/>
          <p:cNvSpPr/>
          <p:nvPr/>
        </p:nvSpPr>
        <p:spPr>
          <a:xfrm>
            <a:off x="7799831" y="2670048"/>
            <a:ext cx="1920240" cy="621792"/>
          </a:xfrm>
          <a:prstGeom prst="chevron">
            <a:avLst/>
          </a:prstGeom>
          <a:solidFill>
            <a:srgbClr val="1A2A4A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重载处置</a:t>
            </a:r>
            <a:endParaRPr sz="130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46136" y="3493008"/>
            <a:ext cx="153619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15"/>
              </a:spcAft>
            </a:pPr>
            <a:r>
              <a:rPr sz="10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运载机自主抵达，到点投放自动脱钩</a:t>
            </a:r>
            <a:endParaRPr sz="10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586215" y="4892040"/>
            <a:ext cx="292608" cy="292608"/>
          </a:xfrm>
          <a:prstGeom prst="ellipse">
            <a:avLst/>
          </a:prstGeom>
          <a:solidFill>
            <a:srgbClr val="1A2A4A"/>
          </a:solidFill>
          <a:ln w="15240">
            <a:solidFill>
              <a:srgbClr val="728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1050" b="1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Chevron 23"/>
          <p:cNvSpPr/>
          <p:nvPr/>
        </p:nvSpPr>
        <p:spPr>
          <a:xfrm>
            <a:off x="9601200" y="2670048"/>
            <a:ext cx="1920240" cy="621792"/>
          </a:xfrm>
          <a:prstGeom prst="chevron">
            <a:avLst/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复查归档</a:t>
            </a:r>
            <a:endParaRPr sz="13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747504" y="3493008"/>
            <a:ext cx="153619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15"/>
              </a:spcAft>
            </a:pPr>
            <a:r>
              <a:rPr sz="10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侦察机复查现场，事件全程归档可溯</a:t>
            </a:r>
            <a:endParaRPr sz="10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10387584" y="4892040"/>
            <a:ext cx="292608" cy="292608"/>
          </a:xfrm>
          <a:prstGeom prst="ellipse">
            <a:avLst/>
          </a:prstGeom>
          <a:solidFill>
            <a:srgbClr val="1A2A4A"/>
          </a:solidFill>
          <a:ln w="15240">
            <a:solidFill>
              <a:srgbClr val="728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1050" b="1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94360" y="5715000"/>
            <a:ext cx="11000232" cy="475488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833872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75"/>
              </a:spcAft>
            </a:pPr>
            <a:r>
              <a:rPr sz="1250" b="1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链条上每一个动作都有系统记录：谁确认、何时下发、执行结果如何，事后都能完整回放</a:t>
            </a:r>
            <a:endParaRPr sz="1250" b="1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30"/>
              </a:spcAft>
            </a:pPr>
            <a:r>
              <a:rPr sz="110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其中“智能研判”与“重载处置”两环，是本系统区别于普通巡检无人机的关键。</a:t>
            </a:r>
            <a:endParaRPr sz="110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sectio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" y="434340"/>
            <a:ext cx="82296" cy="822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65760"/>
            <a:ext cx="6858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 · 应用场景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365760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78638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20"/>
              </a:spcAft>
            </a:pPr>
            <a:r>
              <a:rPr sz="24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一套系统，覆盖“防、灭、救、送”四类任务</a:t>
            </a:r>
            <a:endParaRPr sz="24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3504" y="1335024"/>
            <a:ext cx="50292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17904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75"/>
              </a:spcAft>
            </a:pPr>
            <a:r>
              <a:rPr sz="12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平台的底层能力是“空中发现 + 空中处置”。凡是需要先看清、再抵近、能投送、可复查的现场，都是它的用武之地——以下五类场景均已形成明确打法。</a:t>
            </a:r>
            <a:endParaRPr sz="12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" y="2487168"/>
            <a:ext cx="3520440" cy="1719072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67004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70"/>
              </a:spcAft>
            </a:pPr>
            <a:r>
              <a:rPr sz="19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9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3040" y="2715768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65"/>
              </a:spcAft>
            </a:pPr>
            <a:r>
              <a:rPr sz="15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森林消防</a:t>
            </a:r>
            <a:endParaRPr sz="15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0392" y="3182112"/>
            <a:ext cx="303580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30"/>
              </a:spcAft>
            </a:pPr>
            <a:r>
              <a:rPr sz="110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防火期无人值守巡护，火情早发现、初期快处置，不给山火成势的机会。</a:t>
            </a:r>
            <a:endParaRPr sz="110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88536" y="2487168"/>
            <a:ext cx="3520440" cy="1719072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67004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70"/>
              </a:spcAft>
            </a:pPr>
            <a:r>
              <a:rPr sz="190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90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57216" y="2715768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65"/>
              </a:spcAft>
            </a:pPr>
            <a:r>
              <a:rPr sz="15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草原消防</a:t>
            </a:r>
            <a:endParaRPr sz="15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44568" y="3182112"/>
            <a:ext cx="303580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30"/>
              </a:spcAft>
            </a:pPr>
            <a:r>
              <a:rPr sz="110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大范围高频巡查，弥补人力与车辆覆盖半径不足，火烧迹地快速复查。</a:t>
            </a:r>
            <a:endParaRPr sz="110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982712" y="2487168"/>
            <a:ext cx="3520440" cy="1719072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267004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70"/>
              </a:spcAft>
            </a:pPr>
            <a:r>
              <a:rPr sz="19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9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51392" y="2715768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65"/>
              </a:spcAft>
            </a:pPr>
            <a:r>
              <a:rPr sz="15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大型仓储消防</a:t>
            </a:r>
            <a:endParaRPr sz="15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38744" y="3182112"/>
            <a:ext cx="303580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30"/>
              </a:spcAft>
            </a:pPr>
            <a:r>
              <a:rPr sz="110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厂房、库区与堆场的热成像巡测，阴燃早预警，重点目标定期建档。</a:t>
            </a:r>
            <a:endParaRPr sz="110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4360" y="4407408"/>
            <a:ext cx="5367528" cy="1389888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459028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70"/>
              </a:spcAft>
            </a:pPr>
            <a:r>
              <a:rPr sz="1900" b="1">
                <a:solidFill>
                  <a:srgbClr val="3ADF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900" b="1">
              <a:solidFill>
                <a:srgbClr val="3ADF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63040" y="4636008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65"/>
              </a:spcAft>
            </a:pPr>
            <a:r>
              <a:rPr sz="15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应急救援</a:t>
            </a:r>
            <a:endParaRPr sz="15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0392" y="5102352"/>
            <a:ext cx="4892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30"/>
              </a:spcAft>
            </a:pPr>
            <a:r>
              <a:rPr sz="110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山地、洪涝、震后等复杂现场先期侦察，热成像搜寻热源与人员线索。</a:t>
            </a:r>
            <a:endParaRPr sz="110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135624" y="4407408"/>
            <a:ext cx="5367528" cy="1389888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6" y="459028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70"/>
              </a:spcAft>
            </a:pPr>
            <a:r>
              <a:rPr sz="1900" b="1">
                <a:solidFill>
                  <a:srgbClr val="9B8C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1900" b="1">
              <a:solidFill>
                <a:srgbClr val="9B8C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004304" y="4636008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65"/>
              </a:spcAft>
            </a:pPr>
            <a:r>
              <a:rPr sz="15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物资投放</a:t>
            </a:r>
            <a:endParaRPr sz="15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91656" y="5102352"/>
            <a:ext cx="4892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30"/>
              </a:spcAft>
            </a:pPr>
            <a:r>
              <a:rPr sz="110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灭火弹、药剂、食品与救援装备的重载精准投送，到点自动脱钩。</a:t>
            </a:r>
            <a:endParaRPr sz="110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94360" y="6053328"/>
            <a:ext cx="11000232" cy="475488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17220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75"/>
              </a:spcAft>
            </a:pPr>
            <a:r>
              <a:rPr sz="125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场景在变，链路不变：发现 → 研判 → 任务 → 处置 → 复查</a:t>
            </a:r>
            <a:endParaRPr sz="125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" y="434340"/>
            <a:ext cx="82296" cy="822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65760"/>
            <a:ext cx="6858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 · 应用场景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365760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400032" y="713232"/>
            <a:ext cx="2194560" cy="310896"/>
          </a:xfrm>
          <a:prstGeom prst="roundRect">
            <a:avLst>
              <a:gd name="adj" fmla="val 5500"/>
            </a:avLst>
          </a:prstGeom>
          <a:solidFill>
            <a:srgbClr val="1A2A4A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00032" y="772668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15"/>
              </a:spcAft>
            </a:pPr>
            <a:r>
              <a:rPr sz="105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场景 · 森林 / 草原</a:t>
            </a:r>
            <a:endParaRPr sz="105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786384"/>
            <a:ext cx="9326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20"/>
              </a:spcAft>
            </a:pPr>
            <a:r>
              <a:rPr sz="24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把巡护搬上天空，把火情灭在初期</a:t>
            </a:r>
            <a:endParaRPr sz="24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3504" y="1335024"/>
            <a:ext cx="50292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72768"/>
            <a:ext cx="50292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75"/>
              </a:spcAft>
            </a:pPr>
            <a:r>
              <a:rPr sz="12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防火期内，侦察机按预案航线昼夜自动巡查林区与草场，AI 持续识别烟、火与异常热源；一旦确认火情，运载机即携灭火弹抵近投放——在火势蔓延之前完成“早发现、早处置”。</a:t>
            </a:r>
            <a:endParaRPr sz="12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4360" y="3525012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3456432"/>
            <a:ext cx="4809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90"/>
              </a:spcAft>
            </a:pPr>
            <a:r>
              <a:rPr sz="13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无人值守巡护</a:t>
            </a:r>
            <a:endParaRPr sz="13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3816" y="3749039"/>
            <a:ext cx="480974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30"/>
              </a:spcAft>
            </a:pPr>
            <a:r>
              <a:rPr sz="110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预案航线周期起飞，大范围覆盖不靠人盯</a:t>
            </a:r>
            <a:endParaRPr sz="110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4360" y="4329684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4261104"/>
            <a:ext cx="4809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90"/>
              </a:spcAft>
            </a:pPr>
            <a:r>
              <a:rPr sz="13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昼夜双光值守</a:t>
            </a:r>
            <a:endParaRPr sz="13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3816" y="4553712"/>
            <a:ext cx="480974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30"/>
              </a:spcAft>
            </a:pPr>
            <a:r>
              <a:rPr sz="110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白天识烟火，夜间锁热源，防火期全时段在线</a:t>
            </a:r>
            <a:endParaRPr sz="110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4360" y="5134356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5065776"/>
            <a:ext cx="4809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90"/>
              </a:spcAft>
            </a:pPr>
            <a:r>
              <a:rPr sz="13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初期快速压制</a:t>
            </a:r>
            <a:endParaRPr sz="13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3816" y="5358384"/>
            <a:ext cx="480974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30"/>
              </a:spcAft>
            </a:pPr>
            <a:r>
              <a:rPr sz="110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发现即定位、定位即投放，不给火势留时间</a:t>
            </a:r>
            <a:endParaRPr sz="110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870448" y="2148840"/>
            <a:ext cx="5724144" cy="3249606"/>
          </a:xfrm>
          <a:prstGeom prst="roundRect">
            <a:avLst>
              <a:gd name="adj" fmla="val 30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uppre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456" y="2212848"/>
            <a:ext cx="5596128" cy="312159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888736" y="5517318"/>
            <a:ext cx="45720" cy="1371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16752" y="5489886"/>
            <a:ext cx="5413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灭火弹投放后，火点即刻压制(外场实拍)</a:t>
            </a:r>
            <a:endParaRPr sz="100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4360" y="6053328"/>
            <a:ext cx="11000232" cy="475488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17220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75"/>
              </a:spcAft>
            </a:pPr>
            <a:r>
              <a:rPr sz="125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对森林草原而言，“早十分钟发现、早十分钟处置”，就是一场大火与一次记录的差别</a:t>
            </a:r>
            <a:endParaRPr sz="125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" y="434340"/>
            <a:ext cx="82296" cy="822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65760"/>
            <a:ext cx="6858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 · 应用场景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365760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852660" y="713232"/>
            <a:ext cx="1741932" cy="310896"/>
          </a:xfrm>
          <a:prstGeom prst="roundRect">
            <a:avLst>
              <a:gd name="adj" fmla="val 5500"/>
            </a:avLst>
          </a:prstGeom>
          <a:solidFill>
            <a:srgbClr val="1A2A4A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52660" y="772668"/>
            <a:ext cx="17419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15"/>
              </a:spcAft>
            </a:pPr>
            <a:r>
              <a:rPr sz="105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场景 · 大型仓储</a:t>
            </a:r>
            <a:endParaRPr sz="105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786384"/>
            <a:ext cx="9326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20"/>
              </a:spcAft>
            </a:pPr>
            <a:r>
              <a:rPr sz="24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盯住每一处阴燃，在起火之前预警</a:t>
            </a:r>
            <a:endParaRPr sz="24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3504" y="1335024"/>
            <a:ext cx="50292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2148840"/>
            <a:ext cx="5724144" cy="3275838"/>
          </a:xfrm>
          <a:prstGeom prst="roundRect">
            <a:avLst>
              <a:gd name="adj" fmla="val 30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" y="5543550"/>
            <a:ext cx="45720" cy="1371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5516118"/>
            <a:ext cx="5413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夜间热成像自动锁定阴燃热源，并标注 153.0℃ 温度读数</a:t>
            </a:r>
            <a:endParaRPr sz="100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29400" y="1572768"/>
            <a:ext cx="496519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75"/>
              </a:spcAft>
            </a:pPr>
            <a:r>
              <a:rPr sz="12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大型仓储、物流园区与重点库区的火灾多起于阴燃，肉眼和普通监控难以察觉。热成像巡测能直接读出屋面与堆场的温度异常——一处发热、立即告警建档，为处置争取最宝贵的窗口期。</a:t>
            </a:r>
            <a:endParaRPr sz="12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629400" y="3525012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8856" y="3456432"/>
            <a:ext cx="4745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90"/>
              </a:spcAft>
            </a:pPr>
            <a:r>
              <a:rPr sz="13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夜间自动巡测</a:t>
            </a:r>
            <a:endParaRPr sz="13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48856" y="3749039"/>
            <a:ext cx="47457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30"/>
              </a:spcAft>
            </a:pPr>
            <a:r>
              <a:rPr sz="110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无需照明，热源在黑暗中一览无余</a:t>
            </a:r>
            <a:endParaRPr sz="110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29400" y="4329684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48856" y="4261104"/>
            <a:ext cx="4745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90"/>
              </a:spcAft>
            </a:pPr>
            <a:r>
              <a:rPr sz="13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温度读数留证</a:t>
            </a:r>
            <a:endParaRPr sz="13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48856" y="4553712"/>
            <a:ext cx="47457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30"/>
              </a:spcAft>
            </a:pPr>
            <a:r>
              <a:rPr sz="110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异常点位自动标注温度并截图归档</a:t>
            </a:r>
            <a:endParaRPr sz="110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29400" y="5134356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8856" y="5065776"/>
            <a:ext cx="4745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90"/>
              </a:spcAft>
            </a:pPr>
            <a:r>
              <a:rPr sz="13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告警直达值守</a:t>
            </a:r>
            <a:endParaRPr sz="13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48856" y="5358384"/>
            <a:ext cx="47457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30"/>
              </a:spcAft>
            </a:pPr>
            <a:r>
              <a:rPr sz="110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达到阈值即时推送，从发现到派单一步到位</a:t>
            </a:r>
            <a:endParaRPr sz="110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4360" y="6053328"/>
            <a:ext cx="11000232" cy="475488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17220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75"/>
              </a:spcAft>
            </a:pPr>
            <a:r>
              <a:rPr sz="125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同样的打法，可直接复用于化工园区、煤场、垃圾场、电力设施等重点防火目标</a:t>
            </a:r>
            <a:endParaRPr sz="125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3730" y="2252345"/>
            <a:ext cx="5616575" cy="29997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" y="434340"/>
            <a:ext cx="82296" cy="822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65760"/>
            <a:ext cx="6858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 · 应用场景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365760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400032" y="713232"/>
            <a:ext cx="2194560" cy="310896"/>
          </a:xfrm>
          <a:prstGeom prst="roundRect">
            <a:avLst>
              <a:gd name="adj" fmla="val 5500"/>
            </a:avLst>
          </a:prstGeom>
          <a:solidFill>
            <a:srgbClr val="1A2A4A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00032" y="772668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15"/>
              </a:spcAft>
            </a:pPr>
            <a:r>
              <a:rPr sz="105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场景 · 救援 / 投放</a:t>
            </a:r>
            <a:endParaRPr sz="105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78638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20"/>
              </a:spcAft>
            </a:pPr>
            <a:r>
              <a:rPr sz="24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到不了的地方，让无人机先到</a:t>
            </a:r>
            <a:endParaRPr sz="24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3504" y="1335024"/>
            <a:ext cx="50292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17904"/>
            <a:ext cx="10881360" cy="499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75"/>
              </a:spcAft>
            </a:pPr>
            <a:r>
              <a:rPr sz="12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山地、洪涝、震后等现场，地面力量往往难以第一时间抵近。大载重运载机具备</a:t>
            </a:r>
            <a:r>
              <a:rPr lang="en-US" sz="12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100</a:t>
            </a:r>
            <a:r>
              <a:rPr sz="12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公斤级运力，可先行侦察、再行投送——把灭火弹、药剂、食品与救援装备，准确送到需要的位置。</a:t>
            </a:r>
            <a:endParaRPr sz="12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" y="2487168"/>
            <a:ext cx="5947298" cy="3364992"/>
          </a:xfrm>
          <a:prstGeom prst="roundRect">
            <a:avLst>
              <a:gd name="adj" fmla="val 30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c100_paylo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51176"/>
            <a:ext cx="5819282" cy="323697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2648" y="5971031"/>
            <a:ext cx="45720" cy="1371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5943599"/>
            <a:ext cx="563640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FC100 运载机吊挂灭火载荷，飞赴目标区(外场实拍)</a:t>
            </a:r>
            <a:endParaRPr sz="100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178040" y="2487168"/>
            <a:ext cx="4416552" cy="969264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88352" y="2798064"/>
            <a:ext cx="329184" cy="329184"/>
          </a:xfrm>
          <a:prstGeom prst="ellipse">
            <a:avLst/>
          </a:prstGeom>
          <a:solidFill>
            <a:srgbClr val="1A2A4A"/>
          </a:solidFill>
          <a:ln w="1524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12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82127" y="2624328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5"/>
              </a:spcAft>
            </a:pPr>
            <a:r>
              <a:rPr sz="13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先期侦察</a:t>
            </a:r>
            <a:endParaRPr sz="13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82127" y="2944368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15"/>
              </a:spcAft>
            </a:pPr>
            <a:r>
              <a:rPr sz="10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热成像搜寻热源与人员线索，先于队伍回传现场态势</a:t>
            </a:r>
            <a:endParaRPr sz="10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178040" y="3639312"/>
            <a:ext cx="4416552" cy="969264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88352" y="3950208"/>
            <a:ext cx="329184" cy="329184"/>
          </a:xfrm>
          <a:prstGeom prst="ellipse">
            <a:avLst/>
          </a:prstGeom>
          <a:solidFill>
            <a:srgbClr val="1A2A4A"/>
          </a:solidFill>
          <a:ln w="1524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12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82127" y="37764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5"/>
              </a:spcAft>
            </a:pPr>
            <a:r>
              <a:rPr sz="13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重载投送</a:t>
            </a:r>
            <a:endParaRPr sz="13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82127" y="4096512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15"/>
              </a:spcAft>
            </a:pPr>
            <a:r>
              <a:rPr sz="10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灭火弹、药剂、救生装备一次挂载、精准送达</a:t>
            </a:r>
            <a:endParaRPr sz="10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178040" y="4791456"/>
            <a:ext cx="4416552" cy="969264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88352" y="5102352"/>
            <a:ext cx="329184" cy="329184"/>
          </a:xfrm>
          <a:prstGeom prst="ellipse">
            <a:avLst/>
          </a:prstGeom>
          <a:solidFill>
            <a:srgbClr val="1A2A4A"/>
          </a:solidFill>
          <a:ln w="1524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12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82127" y="4928616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5"/>
              </a:spcAft>
            </a:pPr>
            <a:r>
              <a:rPr sz="13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到点自投</a:t>
            </a:r>
            <a:endParaRPr sz="13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82127" y="5248656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15"/>
              </a:spcAft>
            </a:pPr>
            <a:r>
              <a:rPr sz="10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航点到达自动脱钩投放，全程人员零涉险</a:t>
            </a:r>
            <a:endParaRPr sz="10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94360" y="6236208"/>
            <a:ext cx="11000232" cy="475488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635508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75"/>
              </a:spcAft>
            </a:pPr>
            <a:r>
              <a:rPr sz="125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“救”与“送”用的是与灭火完全相同的系统能力——多一类场景，不多一套系统</a:t>
            </a:r>
            <a:endParaRPr sz="125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sectio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" y="434340"/>
            <a:ext cx="82296" cy="822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65760"/>
            <a:ext cx="6858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 · 核心特点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365760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09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78638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20"/>
              </a:spcAft>
            </a:pPr>
            <a:r>
              <a:rPr sz="24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六项核心能力，支撑一次完整的空中处置</a:t>
            </a:r>
            <a:endParaRPr sz="24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3504" y="1335024"/>
            <a:ext cx="50292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17904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75"/>
              </a:spcAft>
            </a:pPr>
            <a:r>
              <a:rPr sz="12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这些能力不是功能罗列，而是围绕“发现—研判—处置”主线逐环设计：缺任何一环，链路就会断在人工衔接上。</a:t>
            </a:r>
            <a:endParaRPr sz="12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" y="2542032"/>
            <a:ext cx="3520440" cy="1682496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706624"/>
            <a:ext cx="5486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①</a:t>
            </a:r>
            <a:endParaRPr sz="20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44168" y="2761487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5"/>
              </a:spcAft>
            </a:pPr>
            <a:r>
              <a:rPr sz="13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跨行业融合 · 任务接续</a:t>
            </a:r>
            <a:endParaRPr sz="13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" y="3255263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15"/>
              </a:spcAft>
            </a:pPr>
            <a:r>
              <a:rPr sz="10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侦察机与运载机同平台纳管，火情事件直接转为处置任务</a:t>
            </a:r>
            <a:endParaRPr sz="10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88536" y="2542032"/>
            <a:ext cx="3520440" cy="1682496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706624"/>
            <a:ext cx="5486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②</a:t>
            </a:r>
            <a:endParaRPr sz="20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38344" y="2761487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5"/>
              </a:spcAft>
            </a:pPr>
            <a:r>
              <a:rPr sz="13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多模态火情识别</a:t>
            </a:r>
            <a:endParaRPr sz="13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26280" y="3255263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15"/>
              </a:spcAft>
            </a:pPr>
            <a:r>
              <a:rPr sz="10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可见光+热成像+AI 融合研判，风险分级、人工把关</a:t>
            </a:r>
            <a:endParaRPr sz="10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982712" y="2542032"/>
            <a:ext cx="3520440" cy="1682496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6" y="2706624"/>
            <a:ext cx="5486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③</a:t>
            </a:r>
            <a:endParaRPr sz="20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32520" y="2761487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5"/>
              </a:spcAft>
            </a:pPr>
            <a:r>
              <a:rPr sz="13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适航飞行 · 限飞区管理</a:t>
            </a:r>
            <a:endParaRPr sz="13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0456" y="3255263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15"/>
              </a:spcAft>
            </a:pPr>
            <a:r>
              <a:rPr sz="10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禁飞区规则前置校验，违规航线在起飞前被拦截</a:t>
            </a:r>
            <a:endParaRPr sz="10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4360" y="4425696"/>
            <a:ext cx="3520440" cy="1682496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4590288"/>
            <a:ext cx="5486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④</a:t>
            </a:r>
            <a:endParaRPr sz="20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44168" y="4645152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5"/>
              </a:spcAft>
            </a:pPr>
            <a:r>
              <a:rPr sz="13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全自主任务链</a:t>
            </a:r>
            <a:endParaRPr sz="13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2104" y="5138928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15"/>
              </a:spcAft>
            </a:pPr>
            <a:r>
              <a:rPr sz="10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规划即下发，起飞、飞行、投放、返航全程自主执行</a:t>
            </a:r>
            <a:endParaRPr sz="10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288536" y="4425696"/>
            <a:ext cx="3520440" cy="1682496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4590288"/>
            <a:ext cx="5486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⑤</a:t>
            </a:r>
            <a:endParaRPr sz="20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38344" y="4645152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5"/>
              </a:spcAft>
            </a:pPr>
            <a:r>
              <a:rPr sz="13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无人值守 · 一屏指挥</a:t>
            </a:r>
            <a:endParaRPr sz="13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26280" y="5138928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15"/>
              </a:spcAft>
            </a:pPr>
            <a:r>
              <a:rPr sz="10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系统替人盯屏、异常唤醒，态势与任务同屏调度</a:t>
            </a:r>
            <a:endParaRPr sz="10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982712" y="4425696"/>
            <a:ext cx="3520440" cy="1682496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0456" y="4590288"/>
            <a:ext cx="5486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⑥</a:t>
            </a:r>
            <a:endParaRPr sz="20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732520" y="4645152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5"/>
              </a:spcAft>
            </a:pPr>
            <a:r>
              <a:rPr sz="13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精准定位 · 全程留痕</a:t>
            </a:r>
            <a:endParaRPr sz="13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20456" y="5138928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15"/>
              </a:spcAft>
            </a:pPr>
            <a:r>
              <a:rPr sz="10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火点解算为带误差半径的真实坐标，事件档案可复盘</a:t>
            </a:r>
            <a:endParaRPr sz="10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94360" y="6309360"/>
            <a:ext cx="11000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30"/>
              </a:spcAft>
            </a:pPr>
            <a:r>
              <a:rPr sz="110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——以下六页，逐项展开——</a:t>
            </a:r>
            <a:endParaRPr sz="110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" y="434340"/>
            <a:ext cx="82296" cy="822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65760"/>
            <a:ext cx="6858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 · 核心特点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365760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645652" y="713232"/>
            <a:ext cx="2948940" cy="310896"/>
          </a:xfrm>
          <a:prstGeom prst="roundRect">
            <a:avLst>
              <a:gd name="adj" fmla="val 5500"/>
            </a:avLst>
          </a:prstGeom>
          <a:solidFill>
            <a:srgbClr val="1A2A4A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5652" y="772668"/>
            <a:ext cx="29489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15"/>
              </a:spcAft>
            </a:pPr>
            <a:r>
              <a:rPr sz="105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特点 ① 跨行业融合 · 任务接续</a:t>
            </a:r>
            <a:endParaRPr sz="105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78638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20"/>
              </a:spcAft>
            </a:pPr>
            <a:r>
              <a:rPr sz="24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侦察机发现的火情，直接变成运载机的任务</a:t>
            </a:r>
            <a:endParaRPr sz="24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3504" y="1335024"/>
            <a:ext cx="50292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17904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75"/>
              </a:spcAft>
            </a:pPr>
            <a:r>
              <a:rPr sz="12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行业侦察机与大载重运载机分属不同行业体系，原本各用各的地面站与终端。平台把两类机型统一接入、统一调度，火情事件在系统内直接流转为投放任务——坐标不需要人工转述，任务不需要跨系统倒手。</a:t>
            </a:r>
            <a:endParaRPr sz="12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" y="2542032"/>
            <a:ext cx="2331720" cy="457200"/>
          </a:xfrm>
          <a:prstGeom prst="roundRect">
            <a:avLst>
              <a:gd name="adj" fmla="val 5500"/>
            </a:avLst>
          </a:prstGeom>
          <a:solidFill>
            <a:srgbClr val="1A2A4A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3804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75"/>
              </a:spcAft>
            </a:pPr>
            <a:r>
              <a:rPr sz="12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侦察机发现</a:t>
            </a:r>
            <a:endParaRPr sz="12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44368" y="261061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20"/>
              </a:spcAft>
            </a:pPr>
            <a:r>
              <a:rPr sz="14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14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01568" y="2542032"/>
            <a:ext cx="2331720" cy="457200"/>
          </a:xfrm>
          <a:prstGeom prst="roundRect">
            <a:avLst>
              <a:gd name="adj" fmla="val 5500"/>
            </a:avLst>
          </a:prstGeom>
          <a:solidFill>
            <a:srgbClr val="1A2A4A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263804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75"/>
              </a:spcAft>
            </a:pPr>
            <a:r>
              <a:rPr sz="125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平台建事件</a:t>
            </a:r>
            <a:endParaRPr sz="125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51575" y="261061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20"/>
              </a:spcAft>
            </a:pPr>
            <a:r>
              <a:rPr sz="14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14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08775" y="2542032"/>
            <a:ext cx="2331720" cy="457200"/>
          </a:xfrm>
          <a:prstGeom prst="roundRect">
            <a:avLst>
              <a:gd name="adj" fmla="val 5500"/>
            </a:avLst>
          </a:prstGeom>
          <a:solidFill>
            <a:srgbClr val="1A2A4A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5" y="263804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75"/>
              </a:spcAft>
            </a:pPr>
            <a:r>
              <a:rPr sz="12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生成投放航线</a:t>
            </a:r>
            <a:endParaRPr sz="12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58784" y="261061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20"/>
              </a:spcAft>
            </a:pPr>
            <a:r>
              <a:rPr sz="14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14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015984" y="2542032"/>
            <a:ext cx="2514600" cy="457200"/>
          </a:xfrm>
          <a:prstGeom prst="roundRect">
            <a:avLst>
              <a:gd name="adj" fmla="val 5500"/>
            </a:avLst>
          </a:prstGeom>
          <a:solidFill>
            <a:srgbClr val="1A2A4A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15984" y="2638044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75"/>
              </a:spcAft>
            </a:pPr>
            <a:r>
              <a:rPr sz="125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运载机接力执行</a:t>
            </a:r>
            <a:endParaRPr sz="125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94360" y="3310128"/>
            <a:ext cx="5641318" cy="2880360"/>
          </a:xfrm>
          <a:prstGeom prst="roundRect">
            <a:avLst>
              <a:gd name="adj" fmla="val 30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ual_cockp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374136"/>
            <a:ext cx="5513302" cy="275234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12648" y="6309359"/>
            <a:ext cx="45720" cy="1371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" y="6281927"/>
            <a:ext cx="533042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巡检机与运载机在同一驾驶舱内协同调度(外场实飞画面)</a:t>
            </a:r>
            <a:endParaRPr sz="100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903720" y="3598164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3176" y="3529584"/>
            <a:ext cx="44714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90"/>
              </a:spcAft>
            </a:pPr>
            <a:r>
              <a:rPr sz="13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异构机队统一接入</a:t>
            </a:r>
            <a:endParaRPr sz="13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23176" y="3822191"/>
            <a:ext cx="447141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30"/>
              </a:spcAft>
            </a:pPr>
            <a:r>
              <a:rPr sz="110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一套界面同时管“看火的机”与“灭火的机”</a:t>
            </a:r>
            <a:endParaRPr sz="110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903720" y="4421124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23176" y="4352544"/>
            <a:ext cx="44714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90"/>
              </a:spcAft>
            </a:pPr>
            <a:r>
              <a:rPr sz="13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事件驱动任务生成</a:t>
            </a:r>
            <a:endParaRPr sz="13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123176" y="4645152"/>
            <a:ext cx="447141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30"/>
              </a:spcAft>
            </a:pPr>
            <a:r>
              <a:rPr sz="110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从火情告警到运载机领任务，分钟级完成</a:t>
            </a:r>
            <a:endParaRPr sz="110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903720" y="5244084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23176" y="5175504"/>
            <a:ext cx="44714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90"/>
              </a:spcAft>
            </a:pPr>
            <a:r>
              <a:rPr sz="13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接力全程状态回传</a:t>
            </a:r>
            <a:endParaRPr sz="13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123176" y="5468112"/>
            <a:ext cx="447141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330"/>
              </a:spcAft>
            </a:pPr>
            <a:r>
              <a:rPr sz="110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抵近、待命、投放、返航，指挥员实时掌握</a:t>
            </a:r>
            <a:endParaRPr sz="110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" y="434340"/>
            <a:ext cx="82296" cy="822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65760"/>
            <a:ext cx="6858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 · 核心特点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365760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11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400032" y="713232"/>
            <a:ext cx="2194560" cy="310896"/>
          </a:xfrm>
          <a:prstGeom prst="roundRect">
            <a:avLst>
              <a:gd name="adj" fmla="val 5500"/>
            </a:avLst>
          </a:prstGeom>
          <a:solidFill>
            <a:srgbClr val="1A2A4A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00032" y="772668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15"/>
              </a:spcAft>
            </a:pPr>
            <a:r>
              <a:rPr sz="105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特点 ② 多模态火情识别</a:t>
            </a:r>
            <a:endParaRPr sz="105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78638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20"/>
              </a:spcAft>
            </a:pPr>
            <a:r>
              <a:rPr sz="24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同一现场，两种“眼睛”，一次研判</a:t>
            </a:r>
            <a:endParaRPr sz="24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3504" y="1335024"/>
            <a:ext cx="50292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17904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75"/>
              </a:spcAft>
            </a:pPr>
            <a:r>
              <a:rPr sz="12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可见光相机捕捉烟雾与明火，红外热成像穿透夜色与烟障锁定温度异常；AI 对两路画面同时识别、融合打分，原始证据全部保留——复杂环境下不漏报、少误报，复核与追溯都有依据。</a:t>
            </a:r>
            <a:endParaRPr sz="12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" y="2487168"/>
            <a:ext cx="5367528" cy="3075241"/>
          </a:xfrm>
          <a:prstGeom prst="roundRect">
            <a:avLst>
              <a:gd name="adj" fmla="val 30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isi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51176"/>
            <a:ext cx="5239512" cy="294722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2648" y="5681281"/>
            <a:ext cx="45720" cy="1371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5653849"/>
            <a:ext cx="50566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可见光：识别烟雾与疑似火点</a:t>
            </a:r>
            <a:endParaRPr sz="100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27064" y="2487168"/>
            <a:ext cx="5367528" cy="3075241"/>
          </a:xfrm>
          <a:prstGeom prst="roundRect">
            <a:avLst>
              <a:gd name="adj" fmla="val 30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herm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551176"/>
            <a:ext cx="5239512" cy="294722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245351" y="5681281"/>
            <a:ext cx="45720" cy="1371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5653849"/>
            <a:ext cx="50566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热成像：同一现场锁定 153℃ 异常热源</a:t>
            </a:r>
            <a:endParaRPr sz="100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94360" y="6053328"/>
            <a:ext cx="11000232" cy="475488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17220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75"/>
              </a:spcAft>
            </a:pPr>
            <a:r>
              <a:rPr sz="125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可见光识别 ＋ 热成像测温 ＋ AI 融合分级 ＋ 人工最终确认 —— 四道关口，一次研判</a:t>
            </a:r>
            <a:endParaRPr sz="125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" y="434340"/>
            <a:ext cx="82296" cy="822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65760"/>
            <a:ext cx="6858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 · 核心特点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365760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645652" y="713232"/>
            <a:ext cx="2948940" cy="310896"/>
          </a:xfrm>
          <a:prstGeom prst="roundRect">
            <a:avLst>
              <a:gd name="adj" fmla="val 5500"/>
            </a:avLst>
          </a:prstGeom>
          <a:solidFill>
            <a:srgbClr val="1A2A4A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5652" y="772668"/>
            <a:ext cx="29489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15"/>
              </a:spcAft>
            </a:pPr>
            <a:r>
              <a:rPr sz="105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特点 ③ 适航飞行 · 限飞区管理</a:t>
            </a:r>
            <a:endParaRPr sz="105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78638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20"/>
              </a:spcAft>
            </a:pPr>
            <a:r>
              <a:rPr sz="24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合规不靠自觉，系统在起飞前把关</a:t>
            </a:r>
            <a:endParaRPr sz="24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3504" y="1335024"/>
            <a:ext cx="50292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17904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75"/>
              </a:spcAft>
            </a:pPr>
            <a:r>
              <a:rPr sz="12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平台内置禁飞区与适飞空域规则：航线规划阶段，冲突航点与穿越航段实时标红；保存与下发前强制提示，是否调整、是否放行，由有权限的指挥员决定——“能不能飞”的判断，被前置到起飞之前。</a:t>
            </a:r>
            <a:endParaRPr sz="12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" y="2432304"/>
            <a:ext cx="6720840" cy="3408976"/>
          </a:xfrm>
          <a:prstGeom prst="roundRect">
            <a:avLst>
              <a:gd name="adj" fmla="val 30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lan_nfz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496312"/>
            <a:ext cx="6592824" cy="32809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2648" y="5960152"/>
            <a:ext cx="45720" cy="1371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5932720"/>
            <a:ext cx="64099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规划页实时标出禁飞区冲突航点与穿越航段，并同步给出地形高度剖面</a:t>
            </a:r>
            <a:endParaRPr sz="100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452360" y="2432304"/>
            <a:ext cx="4142232" cy="2125715"/>
          </a:xfrm>
          <a:prstGeom prst="roundRect">
            <a:avLst>
              <a:gd name="adj" fmla="val 30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ave_blo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368" y="2496312"/>
            <a:ext cx="4014216" cy="1997699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470648" y="4676891"/>
            <a:ext cx="45720" cy="1371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98664" y="4649459"/>
            <a:ext cx="38313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保存时强制拦截：返回修改，或授权放行</a:t>
            </a:r>
            <a:endParaRPr sz="100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452360" y="5207508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5138928"/>
            <a:ext cx="3922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75"/>
              </a:spcAft>
            </a:pPr>
            <a:r>
              <a:rPr sz="12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规划期实时校验</a:t>
            </a:r>
            <a:endParaRPr sz="12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452360" y="5605272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71816" y="5536692"/>
            <a:ext cx="3922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75"/>
              </a:spcAft>
            </a:pPr>
            <a:r>
              <a:rPr sz="12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保存 / 下发双重闸口</a:t>
            </a:r>
            <a:endParaRPr sz="12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452360" y="6003036"/>
            <a:ext cx="91440" cy="914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1816" y="5934455"/>
            <a:ext cx="3922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75"/>
              </a:spcAft>
            </a:pPr>
            <a:r>
              <a:rPr sz="12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权限化放行，全程留痕</a:t>
            </a:r>
            <a:endParaRPr sz="12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" y="434340"/>
            <a:ext cx="82296" cy="822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65760"/>
            <a:ext cx="6858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 · 核心特点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365760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13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550908" y="713232"/>
            <a:ext cx="2043684" cy="310896"/>
          </a:xfrm>
          <a:prstGeom prst="roundRect">
            <a:avLst>
              <a:gd name="adj" fmla="val 5500"/>
            </a:avLst>
          </a:prstGeom>
          <a:solidFill>
            <a:srgbClr val="1A2A4A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0908" y="772668"/>
            <a:ext cx="20436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15"/>
              </a:spcAft>
            </a:pPr>
            <a:r>
              <a:rPr sz="105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特点 ④ 全自主任务链</a:t>
            </a:r>
            <a:endParaRPr sz="105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78638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20"/>
              </a:spcAft>
            </a:pPr>
            <a:r>
              <a:rPr sz="24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规划即下发，从起飞到返航无需逐步操控</a:t>
            </a:r>
            <a:endParaRPr sz="24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3504" y="1335024"/>
            <a:ext cx="50292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17904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75"/>
              </a:spcAft>
            </a:pPr>
            <a:r>
              <a:rPr sz="12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指挥员在地图上设计好航线、一键下发，无人机自动起飞、逐航点飞行、按编排执行拍照、测温、投放等动作，完成后自动返航，运载机到点自动脱钩。飞手从“全程操控”解放为“关键确认”。</a:t>
            </a:r>
            <a:endParaRPr sz="12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" y="2487168"/>
            <a:ext cx="4160520" cy="566928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8096" y="2606040"/>
            <a:ext cx="329184" cy="329184"/>
          </a:xfrm>
          <a:prstGeom prst="ellipse">
            <a:avLst/>
          </a:prstGeom>
          <a:solidFill>
            <a:srgbClr val="1A2A4A"/>
          </a:solidFill>
          <a:ln w="15240">
            <a:solidFill>
              <a:srgbClr val="3A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12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61872" y="254203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75"/>
              </a:spcAft>
            </a:pPr>
            <a:r>
              <a:rPr sz="12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一键下发</a:t>
            </a:r>
            <a:endParaRPr sz="12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61872" y="2802636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85"/>
              </a:spcAft>
            </a:pPr>
            <a:r>
              <a:rPr sz="9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航线与动作编排一次下发到机</a:t>
            </a:r>
            <a:endParaRPr sz="9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3054096"/>
            <a:ext cx="14630" cy="146304"/>
          </a:xfrm>
          <a:prstGeom prst="rect">
            <a:avLst/>
          </a:prstGeom>
          <a:solidFill>
            <a:srgbClr val="2C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3200400"/>
            <a:ext cx="4160520" cy="566928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8096" y="3319272"/>
            <a:ext cx="329184" cy="329184"/>
          </a:xfrm>
          <a:prstGeom prst="ellipse">
            <a:avLst/>
          </a:prstGeom>
          <a:solidFill>
            <a:srgbClr val="1A2A4A"/>
          </a:solidFill>
          <a:ln w="15240">
            <a:solidFill>
              <a:srgbClr val="3A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12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61872" y="325526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75"/>
              </a:spcAft>
            </a:pPr>
            <a:r>
              <a:rPr sz="12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自动起飞</a:t>
            </a:r>
            <a:endParaRPr sz="12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61872" y="3515868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85"/>
              </a:spcAft>
            </a:pPr>
            <a:r>
              <a:rPr sz="9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无需人工推杆，自主离场入航</a:t>
            </a:r>
            <a:endParaRPr sz="9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14400" y="3767328"/>
            <a:ext cx="14630" cy="146304"/>
          </a:xfrm>
          <a:prstGeom prst="rect">
            <a:avLst/>
          </a:prstGeom>
          <a:solidFill>
            <a:srgbClr val="2C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913632"/>
            <a:ext cx="4160520" cy="566928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8096" y="4032504"/>
            <a:ext cx="329184" cy="329184"/>
          </a:xfrm>
          <a:prstGeom prst="ellipse">
            <a:avLst/>
          </a:prstGeom>
          <a:solidFill>
            <a:srgbClr val="1A2A4A"/>
          </a:solidFill>
          <a:ln w="15240">
            <a:solidFill>
              <a:srgbClr val="3A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12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61872" y="39684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75"/>
              </a:spcAft>
            </a:pPr>
            <a:r>
              <a:rPr sz="12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航线飞行</a:t>
            </a:r>
            <a:endParaRPr sz="12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61872" y="4229100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85"/>
              </a:spcAft>
            </a:pPr>
            <a:r>
              <a:rPr sz="9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逐航点按设定高度速度飞行</a:t>
            </a:r>
            <a:endParaRPr sz="9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14400" y="4480560"/>
            <a:ext cx="14630" cy="146304"/>
          </a:xfrm>
          <a:prstGeom prst="rect">
            <a:avLst/>
          </a:prstGeom>
          <a:solidFill>
            <a:srgbClr val="2C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4626864"/>
            <a:ext cx="4160520" cy="566928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8096" y="4745736"/>
            <a:ext cx="329184" cy="329184"/>
          </a:xfrm>
          <a:prstGeom prst="ellipse">
            <a:avLst/>
          </a:prstGeom>
          <a:solidFill>
            <a:srgbClr val="1A2A4A"/>
          </a:solidFill>
          <a:ln w="15240">
            <a:solidFill>
              <a:srgbClr val="3A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endParaRPr sz="12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61872" y="468172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75"/>
              </a:spcAft>
            </a:pPr>
            <a:r>
              <a:rPr sz="12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动作执行</a:t>
            </a:r>
            <a:endParaRPr sz="12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61872" y="4942332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85"/>
              </a:spcAft>
            </a:pPr>
            <a:r>
              <a:rPr sz="9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拍照 · 测温 · 投放脱钩自动完成</a:t>
            </a:r>
            <a:endParaRPr sz="9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14400" y="5193792"/>
            <a:ext cx="14630" cy="146304"/>
          </a:xfrm>
          <a:prstGeom prst="rect">
            <a:avLst/>
          </a:prstGeom>
          <a:solidFill>
            <a:srgbClr val="2C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4360" y="5340096"/>
            <a:ext cx="4160520" cy="566928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8096" y="5458968"/>
            <a:ext cx="329184" cy="329184"/>
          </a:xfrm>
          <a:prstGeom prst="ellipse">
            <a:avLst/>
          </a:prstGeom>
          <a:solidFill>
            <a:srgbClr val="1A2A4A"/>
          </a:solidFill>
          <a:ln w="15240">
            <a:solidFill>
              <a:srgbClr val="3A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</a:t>
            </a:r>
            <a:endParaRPr sz="12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61872" y="53949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75"/>
              </a:spcAft>
            </a:pPr>
            <a:r>
              <a:rPr sz="12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自动返航</a:t>
            </a:r>
            <a:endParaRPr sz="12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261872" y="5655564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85"/>
              </a:spcAft>
            </a:pPr>
            <a:r>
              <a:rPr sz="9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任务完成自主返航降落</a:t>
            </a:r>
            <a:endParaRPr sz="9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138928" y="2487168"/>
            <a:ext cx="6455664" cy="3277009"/>
          </a:xfrm>
          <a:prstGeom prst="roundRect">
            <a:avLst>
              <a:gd name="adj" fmla="val 30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task_cre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936" y="2551176"/>
            <a:ext cx="6327648" cy="3148993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5157216" y="5883049"/>
            <a:ext cx="45720" cy="1371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85232" y="5855617"/>
            <a:ext cx="6144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监测任务与投放任务在同一入口创建、同一航线库管理</a:t>
            </a:r>
            <a:endParaRPr sz="100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" y="434340"/>
            <a:ext cx="82296" cy="822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65760"/>
            <a:ext cx="6858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 · 核心特点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365760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14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796528" y="713232"/>
            <a:ext cx="2798064" cy="310896"/>
          </a:xfrm>
          <a:prstGeom prst="roundRect">
            <a:avLst>
              <a:gd name="adj" fmla="val 5500"/>
            </a:avLst>
          </a:prstGeom>
          <a:solidFill>
            <a:srgbClr val="1A2A4A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96528" y="772668"/>
            <a:ext cx="27980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15"/>
              </a:spcAft>
            </a:pPr>
            <a:r>
              <a:rPr sz="105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特点 ⑤ 无人值守 · 一屏指挥</a:t>
            </a:r>
            <a:endParaRPr sz="105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78638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20"/>
              </a:spcAft>
            </a:pPr>
            <a:r>
              <a:rPr sz="24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系统替人盯屏，一块屏幕指挥全局</a:t>
            </a:r>
            <a:endParaRPr sz="24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3504" y="1335024"/>
            <a:ext cx="50292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17904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75"/>
              </a:spcAft>
            </a:pPr>
            <a:r>
              <a:rPr sz="12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值守模式下，平台按预案周期派飞、自动识别、异常唤醒——值守人员从“盯屏幕”变为“等告警”。指挥驾驶舱把火情、机队、直播画面与任务进度汇聚一屏，判断与调度不再切换系统。</a:t>
            </a:r>
            <a:endParaRPr sz="12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" y="2045970"/>
            <a:ext cx="8397875" cy="4665980"/>
          </a:xfrm>
          <a:prstGeom prst="roundRect">
            <a:avLst>
              <a:gd name="adj" fmla="val 30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588" y="6519914"/>
            <a:ext cx="45720" cy="1371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604" y="6492482"/>
            <a:ext cx="79644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指挥驾驶舱：火情、机队、直播与任务，一屏统览</a:t>
            </a:r>
            <a:endParaRPr sz="100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189720" y="2505456"/>
            <a:ext cx="2404872" cy="969264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6517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75"/>
              </a:spcAft>
            </a:pPr>
            <a:r>
              <a:rPr sz="125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预案周期巡航</a:t>
            </a:r>
            <a:endParaRPr sz="125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372600" y="2980944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0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按计划自动起飞巡查</a:t>
            </a:r>
            <a:endParaRPr sz="100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89720" y="3657600"/>
            <a:ext cx="2404872" cy="969264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380390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75"/>
              </a:spcAft>
            </a:pPr>
            <a:r>
              <a:rPr sz="125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异常主动告警</a:t>
            </a:r>
            <a:endParaRPr sz="125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72600" y="4133087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0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识别到风险即时唤醒值守</a:t>
            </a:r>
            <a:endParaRPr sz="100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189720" y="4809744"/>
            <a:ext cx="2404872" cy="969264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495604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75"/>
              </a:spcAft>
            </a:pPr>
            <a:r>
              <a:rPr sz="125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态势任务同屏</a:t>
            </a:r>
            <a:endParaRPr sz="125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72600" y="5285231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0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判断与调度零切换</a:t>
            </a:r>
            <a:endParaRPr sz="100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4" name="图片 23" descr="/Users/likewang/Library/Containers/com.kingsoft.wpsoffice.mac/Data/tmp/picturecompress_20260711022105/output_1.pngoutput_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22935" y="2075180"/>
            <a:ext cx="8275955" cy="43135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" y="434340"/>
            <a:ext cx="82296" cy="822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65760"/>
            <a:ext cx="6858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 · 核心特点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365760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15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796528" y="713232"/>
            <a:ext cx="2798064" cy="310896"/>
          </a:xfrm>
          <a:prstGeom prst="roundRect">
            <a:avLst>
              <a:gd name="adj" fmla="val 5500"/>
            </a:avLst>
          </a:prstGeom>
          <a:solidFill>
            <a:srgbClr val="1A2A4A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96528" y="772668"/>
            <a:ext cx="27980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15"/>
              </a:spcAft>
            </a:pPr>
            <a:r>
              <a:rPr sz="105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特点 ⑥ 精准定位 · 全程留痕</a:t>
            </a:r>
            <a:endParaRPr sz="105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78638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20"/>
              </a:spcAft>
            </a:pPr>
            <a:r>
              <a:rPr sz="24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报出的是坐标，留下的是证据</a:t>
            </a:r>
            <a:endParaRPr sz="24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3504" y="1335024"/>
            <a:ext cx="50292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17904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75"/>
              </a:spcAft>
            </a:pPr>
            <a:r>
              <a:rPr sz="12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系统融合定位、姿态、云台角度与地形高程，把画面中的火点解算为带误差半径的真实坐标，直接用于生成投放航线；识别快照、人工确认、审批与处置动作全部入档——每一次响应都可回放、可复盘。</a:t>
            </a:r>
            <a:endParaRPr sz="12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" y="2487168"/>
            <a:ext cx="6172200" cy="2775494"/>
          </a:xfrm>
          <a:prstGeom prst="roundRect">
            <a:avLst>
              <a:gd name="adj" fmla="val 30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ncident_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51176"/>
            <a:ext cx="6044184" cy="264747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2648" y="5381534"/>
            <a:ext cx="45720" cy="1371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5354102"/>
            <a:ext cx="58613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火点坐标与风险半径直接标注在处置地图上，坐标质量一目了然</a:t>
            </a:r>
            <a:endParaRPr sz="100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949440" y="2898648"/>
            <a:ext cx="4645152" cy="2375996"/>
          </a:xfrm>
          <a:prstGeom prst="roundRect">
            <a:avLst>
              <a:gd name="adj" fmla="val 30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event_li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2962656"/>
            <a:ext cx="4517136" cy="224798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967727" y="5393516"/>
            <a:ext cx="45720" cy="1371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5744" y="5366084"/>
            <a:ext cx="43342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识别快照、置信度、人工确认与审批，形成完整事件档案</a:t>
            </a:r>
            <a:endParaRPr sz="100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94360" y="6053328"/>
            <a:ext cx="11000232" cy="475488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17220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75"/>
              </a:spcAft>
            </a:pPr>
            <a:r>
              <a:rPr sz="125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坐标可用于行动，档案可用于复盘 —— 数据既是“弹药”，也是“证据”</a:t>
            </a:r>
            <a:endParaRPr sz="125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sectio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" y="434340"/>
            <a:ext cx="82296" cy="822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65760"/>
            <a:ext cx="6858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 · 实战与总结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365760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16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78638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20"/>
              </a:spcAft>
            </a:pPr>
            <a:r>
              <a:rPr sz="24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一次完整的接力：从发现火情到确认扑灭</a:t>
            </a:r>
            <a:endParaRPr sz="24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3504" y="1335024"/>
            <a:ext cx="50292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17904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75"/>
              </a:spcAft>
            </a:pPr>
            <a:r>
              <a:rPr sz="12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以下六步已在系统内完整贯通，并经外场实飞验证——全程在同一平台内完成，不需要切换任何第三方系统。</a:t>
            </a:r>
            <a:endParaRPr sz="12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3877056"/>
            <a:ext cx="10543032" cy="20116"/>
          </a:xfrm>
          <a:prstGeom prst="rect">
            <a:avLst/>
          </a:prstGeom>
          <a:solidFill>
            <a:srgbClr val="2C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" y="3694176"/>
            <a:ext cx="384048" cy="384048"/>
          </a:xfrm>
          <a:prstGeom prst="ellipse">
            <a:avLst/>
          </a:prstGeom>
          <a:solidFill>
            <a:srgbClr val="1A2A4A"/>
          </a:solidFill>
          <a:ln w="15240">
            <a:solidFill>
              <a:srgbClr val="3A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2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59" y="279806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5"/>
              </a:spcAft>
            </a:pPr>
            <a:r>
              <a:rPr sz="13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自动巡查</a:t>
            </a:r>
            <a:endParaRPr sz="13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59" y="310896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00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侦察机按预案航线起飞巡护</a:t>
            </a:r>
            <a:endParaRPr sz="100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3008376" y="3694176"/>
            <a:ext cx="384048" cy="384048"/>
          </a:xfrm>
          <a:prstGeom prst="ellipse">
            <a:avLst/>
          </a:prstGeom>
          <a:solidFill>
            <a:srgbClr val="1A2A4A"/>
          </a:solidFill>
          <a:ln w="1524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2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0" y="431596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5"/>
              </a:spcAft>
            </a:pPr>
            <a:r>
              <a:rPr sz="13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告警</a:t>
            </a:r>
            <a:endParaRPr sz="13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86000" y="4626864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00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识别烟火热源，自动生成火情事件</a:t>
            </a:r>
            <a:endParaRPr sz="100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928616" y="3694176"/>
            <a:ext cx="384048" cy="384048"/>
          </a:xfrm>
          <a:prstGeom prst="ellipse">
            <a:avLst/>
          </a:prstGeom>
          <a:solidFill>
            <a:srgbClr val="1A2A4A"/>
          </a:solidFill>
          <a:ln w="15240">
            <a:solidFill>
              <a:srgbClr val="3A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2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06240" y="279806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5"/>
              </a:spcAft>
            </a:pPr>
            <a:r>
              <a:rPr sz="13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人工确认</a:t>
            </a:r>
            <a:endParaRPr sz="13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06240" y="310896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00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复核画面与坐标，审批处置方案</a:t>
            </a:r>
            <a:endParaRPr sz="100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48856" y="3694176"/>
            <a:ext cx="384048" cy="384048"/>
          </a:xfrm>
          <a:prstGeom prst="ellipse">
            <a:avLst/>
          </a:prstGeom>
          <a:solidFill>
            <a:srgbClr val="1A2A4A"/>
          </a:solidFill>
          <a:ln w="15240">
            <a:solidFill>
              <a:srgbClr val="3A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2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26480" y="431596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5"/>
              </a:spcAft>
            </a:pPr>
            <a:r>
              <a:rPr sz="13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航线生成</a:t>
            </a:r>
            <a:endParaRPr sz="13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26480" y="4626864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00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按火点坐标一键生成投放航线</a:t>
            </a:r>
            <a:endParaRPr sz="100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8769096" y="3694176"/>
            <a:ext cx="384048" cy="384048"/>
          </a:xfrm>
          <a:prstGeom prst="ellipse">
            <a:avLst/>
          </a:prstGeom>
          <a:solidFill>
            <a:srgbClr val="1A2A4A"/>
          </a:solidFill>
          <a:ln w="1524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12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46720" y="279806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5"/>
              </a:spcAft>
            </a:pPr>
            <a:r>
              <a:rPr sz="13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重载投放</a:t>
            </a:r>
            <a:endParaRPr sz="13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46720" y="310896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00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运载机自主抵达，到点脱钩灭火</a:t>
            </a:r>
            <a:endParaRPr sz="100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10689336" y="3694176"/>
            <a:ext cx="384048" cy="384048"/>
          </a:xfrm>
          <a:prstGeom prst="ellipse">
            <a:avLst/>
          </a:prstGeom>
          <a:solidFill>
            <a:srgbClr val="1A2A4A"/>
          </a:solidFill>
          <a:ln w="15240">
            <a:solidFill>
              <a:srgbClr val="3A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12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66960" y="431596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5"/>
              </a:spcAft>
            </a:pPr>
            <a:r>
              <a:rPr sz="13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复查归档</a:t>
            </a:r>
            <a:endParaRPr sz="13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966960" y="4626864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00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回场复查效果，事件闭环存档</a:t>
            </a:r>
            <a:endParaRPr sz="100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94360" y="5779008"/>
            <a:ext cx="11000232" cy="475488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89788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75"/>
              </a:spcAft>
            </a:pPr>
            <a:r>
              <a:rPr sz="125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 AI 告警到运载机起飞，分钟级完成——而每一步，都留有记录</a:t>
            </a:r>
            <a:endParaRPr sz="125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30"/>
              </a:spcAft>
            </a:pPr>
            <a:r>
              <a:rPr sz="110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这不是六个功能的演示，而是一套已经跑通的空中处置战法。</a:t>
            </a:r>
            <a:endParaRPr sz="110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sectio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" y="434340"/>
            <a:ext cx="82296" cy="822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65760"/>
            <a:ext cx="6858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 · 实战与总结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365760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17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786384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20"/>
              </a:spcAft>
            </a:pPr>
            <a:r>
              <a:rPr sz="24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总结：看得早、到得快、管得住</a:t>
            </a:r>
            <a:endParaRPr sz="24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3504" y="1335024"/>
            <a:ext cx="50292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17904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75"/>
              </a:spcAft>
            </a:pPr>
            <a:r>
              <a:rPr sz="12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回到消防救援最朴素的三个诉求，系统给出的答案是：</a:t>
            </a:r>
            <a:endParaRPr sz="12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" y="2395728"/>
            <a:ext cx="3520440" cy="2011680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395728"/>
            <a:ext cx="3520440" cy="64008"/>
          </a:xfrm>
          <a:prstGeom prst="rect">
            <a:avLst/>
          </a:prstGeom>
          <a:solidFill>
            <a:srgbClr val="3A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70048"/>
            <a:ext cx="29260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70"/>
              </a:spcAft>
            </a:pPr>
            <a:r>
              <a:rPr sz="19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看得早</a:t>
            </a:r>
            <a:endParaRPr sz="19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299923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345"/>
              </a:spcAft>
            </a:pPr>
            <a:r>
              <a:rPr sz="11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无人值守巡护 + 多模态识别，把发现时点提前到火情初期；夜间与复杂环境同样在线。</a:t>
            </a:r>
            <a:endParaRPr sz="11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88536" y="2395728"/>
            <a:ext cx="3520440" cy="2011680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8536" y="2395728"/>
            <a:ext cx="3520440" cy="6400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2670048"/>
            <a:ext cx="29260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70"/>
              </a:spcAft>
            </a:pPr>
            <a:r>
              <a:rPr sz="19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到得快</a:t>
            </a:r>
            <a:endParaRPr sz="19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62856" y="3218688"/>
            <a:ext cx="299923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345"/>
              </a:spcAft>
            </a:pPr>
            <a:r>
              <a:rPr sz="11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事件直转任务、双机接力处置，从告警到起飞分钟级；重载运力让处置不止于“看”。</a:t>
            </a:r>
            <a:endParaRPr sz="11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982712" y="2395728"/>
            <a:ext cx="3520440" cy="2011680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82712" y="2395728"/>
            <a:ext cx="3520440" cy="64008"/>
          </a:xfrm>
          <a:prstGeom prst="rect">
            <a:avLst/>
          </a:prstGeom>
          <a:solidFill>
            <a:srgbClr val="FF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2" y="2670048"/>
            <a:ext cx="29260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70"/>
              </a:spcAft>
            </a:pPr>
            <a:r>
              <a:rPr sz="190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管得住</a:t>
            </a:r>
            <a:endParaRPr sz="190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57032" y="3218688"/>
            <a:ext cx="299923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345"/>
              </a:spcAft>
            </a:pPr>
            <a:r>
              <a:rPr sz="115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适航校验、权限审批、全程留痕——每一次起飞都合规，每一步动作都可追溯。</a:t>
            </a:r>
            <a:endParaRPr sz="115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4360" y="4773168"/>
            <a:ext cx="11000232" cy="713232"/>
          </a:xfrm>
          <a:prstGeom prst="roundRect">
            <a:avLst>
              <a:gd name="adj" fmla="val 5500"/>
            </a:avLst>
          </a:prstGeom>
          <a:solidFill>
            <a:srgbClr val="131F38"/>
          </a:solidFill>
          <a:ln w="12700">
            <a:solidFill>
              <a:srgbClr val="2C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5"/>
              </a:spcAft>
            </a:pPr>
            <a:r>
              <a:rPr sz="13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同一套平台，服务森林、草原、大型仓储消防，以及应急救援、物资投放五类场景</a:t>
            </a:r>
            <a:endParaRPr sz="13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4360" y="5852160"/>
            <a:ext cx="11000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50"/>
              </a:spcAft>
            </a:pPr>
            <a:r>
              <a:rPr sz="150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空地一体 · 侦灭一体 —— 让无人机从“会看火”，走到“能灭火”</a:t>
            </a:r>
            <a:endParaRPr sz="150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cov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14884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90"/>
              </a:spcAft>
            </a:pPr>
            <a:r>
              <a:rPr sz="13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UAVFIRE · 智能集群大载重无人机灭火系统</a:t>
            </a:r>
            <a:endParaRPr sz="13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278892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960"/>
              </a:spcAft>
            </a:pPr>
            <a:r>
              <a:rPr sz="32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让天空成为消防救援的第一响应力量</a:t>
            </a:r>
            <a:endParaRPr sz="32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24728" y="3703320"/>
            <a:ext cx="54864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690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20"/>
              </a:spcAft>
            </a:pPr>
            <a:r>
              <a:rPr sz="1400" b="0">
                <a:solidFill>
                  <a:srgbClr val="A9B7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汇报完毕，恳请各位领导指导</a:t>
            </a:r>
            <a:endParaRPr sz="1400" b="0">
              <a:solidFill>
                <a:srgbClr val="A9B7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14476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315"/>
              </a:spcAft>
            </a:pPr>
            <a:r>
              <a:rPr sz="1050" b="0">
                <a:solidFill>
                  <a:srgbClr val="7282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2026 年 7 月</a:t>
            </a:r>
            <a:endParaRPr sz="1050" b="0">
              <a:solidFill>
                <a:srgbClr val="7282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4230</Words>
  <Application>WPS 演示</Application>
  <PresentationFormat>On-screen Show (4:3)</PresentationFormat>
  <Paragraphs>534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Arial</vt:lpstr>
      <vt:lpstr>PingFang SC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不二U1丶</cp:lastModifiedBy>
  <cp:revision>2</cp:revision>
  <dcterms:created xsi:type="dcterms:W3CDTF">2026-07-10T18:28:45Z</dcterms:created>
  <dcterms:modified xsi:type="dcterms:W3CDTF">2026-07-10T18:28:45Z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65E1CD1A2A3BF879DC39516AAED82B9B_42</vt:lpwstr>
  </property>
  <property fmtid="{D5CDD505-2E9C-101B-9397-08002B2CF9AE}" pid="3" name="KSOProductBuildVer">
    <vt:lpwstr>2052-6.7.1.8828</vt:lpwstr>
  </property>
</Properties>
</file>