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46e01dd9264f9c" /><Relationship Type="http://schemas.openxmlformats.org/officeDocument/2006/relationships/extended-properties" Target="/docProps/app.xml" Id="Rfeec59daabb84a96" /><Relationship Type="http://schemas.openxmlformats.org/officeDocument/2006/relationships/officeDocument" Target="/ppt/presentation.xml" Id="R051ea3d0229e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c4db93a0114a92"/>
  </p:sldMasterIdLst>
  <p:notesMasterIdLst>
    <p:notesMasterId xmlns:r="http://schemas.openxmlformats.org/officeDocument/2006/relationships" r:id="R5748d53b35df431e"/>
  </p:notesMasterIdLst>
  <p:sldIdLst>
    <p:sldId xmlns:r="http://schemas.openxmlformats.org/officeDocument/2006/relationships" id="256" r:id="R0477456953cc4de8"/>
    <p:sldId xmlns:r="http://schemas.openxmlformats.org/officeDocument/2006/relationships" id="257" r:id="R4e2de522dd6b4474"/>
    <p:sldId xmlns:r="http://schemas.openxmlformats.org/officeDocument/2006/relationships" id="258" r:id="R593812a2bcb54446"/>
    <p:sldId xmlns:r="http://schemas.openxmlformats.org/officeDocument/2006/relationships" id="259" r:id="R3ed9543f683347bc"/>
    <p:sldId xmlns:r="http://schemas.openxmlformats.org/officeDocument/2006/relationships" id="260" r:id="R618097415b2548d7"/>
    <p:sldId xmlns:r="http://schemas.openxmlformats.org/officeDocument/2006/relationships" id="261" r:id="R9a2894d8086e4f37"/>
    <p:sldId xmlns:r="http://schemas.openxmlformats.org/officeDocument/2006/relationships" id="262" r:id="R1ed11f0a44d145d3"/>
    <p:sldId xmlns:r="http://schemas.openxmlformats.org/officeDocument/2006/relationships" id="263" r:id="R43aca20a944c4d7e"/>
    <p:sldId xmlns:r="http://schemas.openxmlformats.org/officeDocument/2006/relationships" id="264" r:id="R4b595a62334545a4"/>
    <p:sldId xmlns:r="http://schemas.openxmlformats.org/officeDocument/2006/relationships" id="265" r:id="Racb6b75036434056"/>
    <p:sldId xmlns:r="http://schemas.openxmlformats.org/officeDocument/2006/relationships" id="266" r:id="R95bdab19fe804719"/>
    <p:sldId xmlns:r="http://schemas.openxmlformats.org/officeDocument/2006/relationships" id="267" r:id="R42876d0724b643d5"/>
    <p:sldId xmlns:r="http://schemas.openxmlformats.org/officeDocument/2006/relationships" id="268" r:id="R69867b04dc414e78"/>
    <p:sldId xmlns:r="http://schemas.openxmlformats.org/officeDocument/2006/relationships" id="269" r:id="R4e86c07b51d049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adcac8cabf4637" /><Relationship Type="http://schemas.openxmlformats.org/officeDocument/2006/relationships/slideMaster" Target="/ppt/slideMasters/slideMaster1.xml" Id="R98c4db93a0114a92" /><Relationship Type="http://schemas.openxmlformats.org/officeDocument/2006/relationships/notesMaster" Target="/ppt/notesMasters/notesMaster1.xml" Id="R5748d53b35df431e" /><Relationship Type="http://schemas.openxmlformats.org/officeDocument/2006/relationships/presProps" Target="/ppt/presProps.xml" Id="Rbfd8ef92be83445c" /><Relationship Type="http://schemas.openxmlformats.org/officeDocument/2006/relationships/viewProps" Target="/ppt/viewProps.xml" Id="Rf85e388526104be7" /><Relationship Type="http://schemas.openxmlformats.org/officeDocument/2006/relationships/tableStyles" Target="/ppt/tableStyles.xml" Id="R1de0b493227e4812" /><Relationship Type="http://schemas.openxmlformats.org/officeDocument/2006/relationships/slide" Target="/ppt/slides/slide1.xml" Id="R0477456953cc4de8" /><Relationship Type="http://schemas.openxmlformats.org/officeDocument/2006/relationships/slide" Target="/ppt/slides/slide2.xml" Id="R4e2de522dd6b4474" /><Relationship Type="http://schemas.openxmlformats.org/officeDocument/2006/relationships/slide" Target="/ppt/slides/slide3.xml" Id="R593812a2bcb54446" /><Relationship Type="http://schemas.openxmlformats.org/officeDocument/2006/relationships/slide" Target="/ppt/slides/slide4.xml" Id="R3ed9543f683347bc" /><Relationship Type="http://schemas.openxmlformats.org/officeDocument/2006/relationships/slide" Target="/ppt/slides/slide5.xml" Id="R618097415b2548d7" /><Relationship Type="http://schemas.openxmlformats.org/officeDocument/2006/relationships/slide" Target="/ppt/slides/slide6.xml" Id="R9a2894d8086e4f37" /><Relationship Type="http://schemas.openxmlformats.org/officeDocument/2006/relationships/slide" Target="/ppt/slides/slide7.xml" Id="R1ed11f0a44d145d3" /><Relationship Type="http://schemas.openxmlformats.org/officeDocument/2006/relationships/slide" Target="/ppt/slides/slide8.xml" Id="R43aca20a944c4d7e" /><Relationship Type="http://schemas.openxmlformats.org/officeDocument/2006/relationships/slide" Target="/ppt/slides/slide9.xml" Id="R4b595a62334545a4" /><Relationship Type="http://schemas.openxmlformats.org/officeDocument/2006/relationships/slide" Target="/ppt/slides/slide10.xml" Id="Racb6b75036434056" /><Relationship Type="http://schemas.openxmlformats.org/officeDocument/2006/relationships/slide" Target="/ppt/slides/slide11.xml" Id="R95bdab19fe804719" /><Relationship Type="http://schemas.openxmlformats.org/officeDocument/2006/relationships/slide" Target="/ppt/slides/slide12.xml" Id="R42876d0724b643d5" /><Relationship Type="http://schemas.openxmlformats.org/officeDocument/2006/relationships/slide" Target="/ppt/slides/slide13.xml" Id="R69867b04dc414e78" /><Relationship Type="http://schemas.openxmlformats.org/officeDocument/2006/relationships/slide" Target="/ppt/slides/slide14.xml" Id="R4e86c07b51d0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8cf1696a14e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add0772444720" /><Relationship Type="http://schemas.openxmlformats.org/officeDocument/2006/relationships/notesMaster" Target="/ppt/notesMasters/notesMaster1.xml" Id="Rab5bf1d9bb3f47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b305a848448ce" /><Relationship Type="http://schemas.openxmlformats.org/officeDocument/2006/relationships/notesMaster" Target="/ppt/notesMasters/notesMaster1.xml" Id="R7a03dcdf4c7a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a132d10979444b" /><Relationship Type="http://schemas.openxmlformats.org/officeDocument/2006/relationships/notesMaster" Target="/ppt/notesMasters/notesMaster1.xml" Id="R0bed27c3549449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2eeb68f8d54332" /><Relationship Type="http://schemas.openxmlformats.org/officeDocument/2006/relationships/notesMaster" Target="/ppt/notesMasters/notesMaster1.xml" Id="R692c2aaa6967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1d008db6d149ad" /><Relationship Type="http://schemas.openxmlformats.org/officeDocument/2006/relationships/notesMaster" Target="/ppt/notesMasters/notesMaster1.xml" Id="Ra28a9a519f6d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863c85d524f26" /><Relationship Type="http://schemas.openxmlformats.org/officeDocument/2006/relationships/notesMaster" Target="/ppt/notesMasters/notesMaster1.xml" Id="Rbc83aeb216d54e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349d1849c74b89" /><Relationship Type="http://schemas.openxmlformats.org/officeDocument/2006/relationships/notesMaster" Target="/ppt/notesMasters/notesMaster1.xml" Id="R1813cd7987ad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2e51038ba847cc" /><Relationship Type="http://schemas.openxmlformats.org/officeDocument/2006/relationships/notesMaster" Target="/ppt/notesMasters/notesMaster1.xml" Id="R84fdf4c8ea6c40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99df90b0804f27" /><Relationship Type="http://schemas.openxmlformats.org/officeDocument/2006/relationships/notesMaster" Target="/ppt/notesMasters/notesMaster1.xml" Id="R1a5beef137a844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7980c25e9148b6" /><Relationship Type="http://schemas.openxmlformats.org/officeDocument/2006/relationships/notesMaster" Target="/ppt/notesMasters/notesMaster1.xml" Id="R44c4fca06f5a42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cca3a27b634466" /><Relationship Type="http://schemas.openxmlformats.org/officeDocument/2006/relationships/notesMaster" Target="/ppt/notesMasters/notesMaster1.xml" Id="Re2cc53983b1642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c2ec7a663f4754" /><Relationship Type="http://schemas.openxmlformats.org/officeDocument/2006/relationships/notesMaster" Target="/ppt/notesMasters/notesMaster1.xml" Id="R944535aef15248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827bd56b02456f" /><Relationship Type="http://schemas.openxmlformats.org/officeDocument/2006/relationships/notesMaster" Target="/ppt/notesMasters/notesMaster1.xml" Id="R0d68de6a9e6242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7c4bba5fb74a2d" /><Relationship Type="http://schemas.openxmlformats.org/officeDocument/2006/relationships/notesMaster" Target="/ppt/notesMasters/notesMaster1.xml" Id="Re16198272def44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28270113247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406aa3d9964732" /><Relationship Type="http://schemas.openxmlformats.org/officeDocument/2006/relationships/slideLayout" Target="/ppt/slideLayouts/slideLayout1.xml" Id="R874245e5cb53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245e5cb53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ecd4863be42a8" /><Relationship Type="http://schemas.openxmlformats.org/officeDocument/2006/relationships/image" Target="/ppt/media/image.png" Id="R37958035519848b3" /><Relationship Type="http://schemas.openxmlformats.org/officeDocument/2006/relationships/notesSlide" Target="/ppt/notesSlides/notesSlide1.xml" Id="R118c530f5b02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0360a6a0f4a0c" /><Relationship Type="http://schemas.openxmlformats.org/officeDocument/2006/relationships/image" Target="/ppt/media/image2.png" Id="R26b7f03183f14260" /><Relationship Type="http://schemas.openxmlformats.org/officeDocument/2006/relationships/image" Target="/ppt/media/image.svg" Id="R7bf96be641494f2b" /><Relationship Type="http://schemas.openxmlformats.org/officeDocument/2006/relationships/image" Target="/ppt/media/image3.png" Id="R92a5386ab29d4c6e" /><Relationship Type="http://schemas.openxmlformats.org/officeDocument/2006/relationships/image" Target="/ppt/media/image2.svg" Id="R33b19ddcb43d4419" /><Relationship Type="http://schemas.openxmlformats.org/officeDocument/2006/relationships/image" Target="/ppt/media/image4.png" Id="Raf7a694481cf4365" /><Relationship Type="http://schemas.openxmlformats.org/officeDocument/2006/relationships/image" Target="/ppt/media/image3.svg" Id="R94bffd702e904844" /><Relationship Type="http://schemas.openxmlformats.org/officeDocument/2006/relationships/notesSlide" Target="/ppt/notesSlides/notesSlide2.xml" Id="R577dbb841e76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d6267ace0437b" /><Relationship Type="http://schemas.openxmlformats.org/officeDocument/2006/relationships/notesSlide" Target="/ppt/notesSlides/notesSlide3.xml" Id="Rd3f26e31d3e540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6781355a24a0b" /><Relationship Type="http://schemas.openxmlformats.org/officeDocument/2006/relationships/notesSlide" Target="/ppt/notesSlides/notesSlide4.xml" Id="R08575e26195b4b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9deda4d4f4fa3" /><Relationship Type="http://schemas.openxmlformats.org/officeDocument/2006/relationships/image" Target="/ppt/media/image.jpeg" Id="R54f6e8965e974ca0" /><Relationship Type="http://schemas.openxmlformats.org/officeDocument/2006/relationships/notesSlide" Target="/ppt/notesSlides/notesSlide5.xml" Id="R93e62c76041640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2ef67e5843fb" /><Relationship Type="http://schemas.openxmlformats.org/officeDocument/2006/relationships/image" Target="/ppt/media/image2.jpeg" Id="Rfd8657fa59924914" /><Relationship Type="http://schemas.openxmlformats.org/officeDocument/2006/relationships/notesSlide" Target="/ppt/notesSlides/notesSlide6.xml" Id="R3963e34932f1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f653e10684842" /><Relationship Type="http://schemas.openxmlformats.org/officeDocument/2006/relationships/notesSlide" Target="/ppt/notesSlides/notesSlide7.xml" Id="R839b10640720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8f2ddab04021" /><Relationship Type="http://schemas.openxmlformats.org/officeDocument/2006/relationships/notesSlide" Target="/ppt/notesSlides/notesSlide8.xml" Id="Rf3b68aeea71846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5ee412c394a03" /><Relationship Type="http://schemas.openxmlformats.org/officeDocument/2006/relationships/image" Target="/ppt/media/image5.png" Id="Ra3edf3901f854e8d" /><Relationship Type="http://schemas.openxmlformats.org/officeDocument/2006/relationships/image" Target="/ppt/media/image6.png" Id="Rb5b971e6c7534631" /><Relationship Type="http://schemas.openxmlformats.org/officeDocument/2006/relationships/image" Target="/ppt/media/image7.png" Id="R268dcd0c2c8e48f1" /><Relationship Type="http://schemas.openxmlformats.org/officeDocument/2006/relationships/notesSlide" Target="/ppt/notesSlides/notesSlide9.xml" Id="Rba52f55adb064d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6426b50d54d4c" /><Relationship Type="http://schemas.openxmlformats.org/officeDocument/2006/relationships/image" Target="/ppt/media/image8.png" Id="R9baa796fcd324878" /><Relationship Type="http://schemas.openxmlformats.org/officeDocument/2006/relationships/notesSlide" Target="/ppt/notesSlides/notesSlide10.xml" Id="R3b226ee36f46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9ea320f764280" /><Relationship Type="http://schemas.openxmlformats.org/officeDocument/2006/relationships/notesSlide" Target="/ppt/notesSlides/notesSlide11.xml" Id="R31559de978be4c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5703c4ed840f1" /><Relationship Type="http://schemas.openxmlformats.org/officeDocument/2006/relationships/notesSlide" Target="/ppt/notesSlides/notesSlide12.xml" Id="R3a6c4c2f685641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ff8f4545a445b" /><Relationship Type="http://schemas.openxmlformats.org/officeDocument/2006/relationships/notesSlide" Target="/ppt/notesSlides/notesSlide13.xml" Id="Rb36fc6cea5824e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c44269dd341c7" /><Relationship Type="http://schemas.openxmlformats.org/officeDocument/2006/relationships/image" Target="/ppt/media/image9.png" Id="R665fab22f8c54edf" /><Relationship Type="http://schemas.openxmlformats.org/officeDocument/2006/relationships/notesSlide" Target="/ppt/notesSlides/notesSlide14.xml" Id="R75dbec98a2ce41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58035519848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CB841-5967-4005-BA3A-EEA3E16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>
              <a:alpha val="80000"/>
            </a:srgbClr>
          </a:solidFill>
          <a:ln xmlns:a="http://schemas.openxmlformats.org/drawingml/2006/main" w="0">
            <a:solidFill>
              <a:srgbClr val="0610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7F014-43B6-4D36-A0F2-E46F9DD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128B-3B52-44EF-8853-CCB08051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消防部门客户交流版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21645-C845-49F6-9EF5-5F1AE4F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智能无人机火情监测与快速处置系统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333BB-A442-47D2-BE55-7AF93485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CE6F2"/>
                </a:solidFill>
                <a:latin typeface="PingFang SC"/>
                <a:ea typeface="PingFang SC"/>
                <a:cs typeface="PingFang SC"/>
              </a:rPr>
              <a:t>面向森林/山地/园区火灾场景，构建从空中巡护、AI识别、火点定位到灭火任务执行的闭环能力。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3A5A9-462B-40D5-B1D0-5855FF98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5D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9C5D4"/>
                </a:solidFill>
                <a:latin typeface="PingFang SC"/>
                <a:ea typeface="PingFang SC"/>
                <a:cs typeface="PingFang SC"/>
              </a:rPr>
              <a:t>UAVFire | 2026</a:t>
            </a:r>
          </a:p>
        </p:txBody>
      </p:sp>
    </p:spTree>
    <p:extLst>
      <p:ext uri="{BB962C8B-B14F-4D97-AF65-F5344CB8AC3E}">
        <p14:creationId xmlns:p14="http://schemas.microsoft.com/office/powerpoint/2010/main" val="19253824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F06A8-FDE7-47E5-B1FC-AD1B855F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AD128-EE5D-412F-81E0-69E20DE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F933F-EDC2-4BB9-8483-3ADC73DF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消防业务痛点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4A277-D522-4595-B44B-24BCA4D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传统山火处置的关键矛盾：早发现、快到达、准决策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D18B6-3F0F-4C4C-BA99-6EDB8C3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7f03183f14260">
            <a:extLst>
              <a:ext uri="{96DAC541-7B7A-43D3-8B79-37D633B846F1}">
                <asvg:svgBlip xmlns:asvg="http://schemas.microsoft.com/office/drawing/2016/SVG/main" r:embed="R7bf96be641494f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209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5D4D1-1F14-471F-8022-2F170DC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黄金窗口短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16210-EBB6-4253-AB40-F2FEB91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小火源一旦跨过早期阶段，扑救成本和人员风险快速上升。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C35C4-47A7-4ACE-9366-7A408D9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5386ab29d4c6e">
            <a:extLst>
              <a:ext uri="{96DAC541-7B7A-43D3-8B79-37D633B846F1}">
                <asvg:svgBlip xmlns:asvg="http://schemas.microsoft.com/office/drawing/2016/SVG/main" r:embed="R33b19ddcb43d44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4400" y="2209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432BE-C0B1-4595-9B41-5CF9FEC0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现场到达难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BD07A-3D1B-489F-A205-F492A62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山地、林区、夜间和烟雾环境下，车辆和人员难以快速抵近。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126F1-CC51-4113-9817-36E0014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a694481cf4365">
            <a:extLst>
              <a:ext uri="{96DAC541-7B7A-43D3-8B79-37D633B846F1}">
                <asvg:svgBlip xmlns:asvg="http://schemas.microsoft.com/office/drawing/2016/SVG/main" r:embed="R94bffd702e9048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96300" y="2209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D66A8-7CD4-442C-97F8-C7F3CA6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指挥信息散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78CB-8788-4F31-830E-25E4712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视频、位置、任务和处置结果分散，难以形成可复盘的作战链。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623B8-2F0C-43E2-8062-EEA8AC94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F6C6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9D810-D462-4997-82EE-318E7756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系统建设目标：把无人机从“巡检工具”升级为消防指挥体系里的空中感知、智能研判和任务执行节点。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30AF2-22C2-4BE2-9053-9157F11C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6DCD9-DC82-4E2D-A894-BA01448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8027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D95AB-242E-4E11-9EA1-9E238D8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B7E17-5667-457C-B33A-4E624D5F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9E883-99FF-48EE-951E-BE049FF8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方案定位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0F8EE-9EBB-4C8F-B3DA-A4A073C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一套围绕火情处置闭环设计的空中作战系统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CF571-7362-415C-99E4-7A365E8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不是单点设备堆叠，而是把巡护、识别、定位、任务、执行、复盘串成一条业务链。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5FE24-7411-451B-B036-5F4E1C3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C1DC0-C289-43EF-AA1D-1E05D8D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1957C-5E7D-4A3B-B3D0-67EA0BB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巡护感知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8486E-ED12-4A70-A28E-E131F784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可见光/热成像视频回传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8A2B4-20F9-4100-85BB-6CD6F82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09308-FF3C-485A-A659-7C62706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B9311-F426-4989-955E-798C36D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F15F0-AC5F-4BF7-8812-A5CC1D5D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61FC7-759E-4BF3-A960-3974BB0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837EA-DD4D-49DD-AFCB-1A26E4B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火点与烟火特征分析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C3223-5932-4E6F-B837-696E9B9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A51E7-3029-4B98-A82F-B7435C33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11EE1-7674-4135-A850-9D41DF2D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B0D0E-E815-494C-9103-63A83C2A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83621-3B12-44C6-9373-0E50A64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精准定位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78FB9-4937-4EF0-9749-63ECF45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OSD/DEM/云台姿态融合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BF438-8608-4E41-9E72-B826AC2C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3C30A-E70E-40EF-AE7A-80F684BD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085E3-7DC8-4D04-8184-EA9B37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2C238-C7B4-41CA-95B7-FDA1EEC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E3138-85AA-43BA-B53A-ABCE950B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指挥研判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EDD12-C8B7-44C3-B547-CCF94E0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驾驶舱统一呈现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89017-93F9-4397-A0A6-A778669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AA542-8D15-456E-A50A-ECB7D60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0CCE8-740A-4FF5-AA4E-01B04BA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95180-3019-41EF-B45C-3AA5A14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67B42-3E47-4579-9707-D32B7DAE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任务执行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B824BF-6F08-4EE6-819D-0FBE1D8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航线/投放/作业状态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CB64E-BD74-4545-ADF9-7C3F03D1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A96902-7C95-4BF2-8B80-D1B754EE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0">
            <a:solidFill>
              <a:srgbClr val="B9C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2049E-C83A-42C3-906D-9EB4C10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6438AD-BC13-49E2-BEF7-26783F2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098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A866E9-EAA6-4299-A0FD-EFADC72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数据复盘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82A4F0-3917-4988-820A-2501855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事件历史和处置记录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814FB2-5A24-40AA-A7E2-87486283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客户感知到的是“发现即成案、成案即派发、派发即跟踪”，后台技术链路负责把每一步变成可验证的数据。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106E3C-9BF0-4479-AF39-1CA4903D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641D8-2F0F-4D51-BC37-B7748995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8560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73039-0D28-4F2C-9957-38FE30B2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DD834-4087-4CC1-9153-52066AD3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FF066-F535-4DA7-8F8E-F009FDE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总体架构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732FB-8052-4605-A1D6-58C46B3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四层架构对接消防业务与大疆生态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18A88-BC41-42DC-9EDB-D08C09E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上接消防指挥场景，下接无人机、遥控器、媒体与 AI 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CAE02-8340-4A9B-95E7-78D4CDA0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A9779-BB12-4297-BB38-CC3D9F0B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65358-BE81-4BAA-9BA8-DA056B21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02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消防业务层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E3015-72AF-493F-946D-D9974238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0275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指挥驾驶舱、火情事件、灭火任务、复盘报表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016EA-309D-4144-A05F-022A1F2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038E7-5D0D-4506-B38E-C729DA0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3AAC2-F579-4617-9376-CA1E0D8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765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自研应用层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F14DD-29BC-4F90-92CF-42719AF9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76575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UAVFire 前端/后端、任务编排、事件与航线管理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304DE-50F8-4819-B29C-9A5E89AE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AF080-5646-41C2-A772-379F9E0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9305D-643A-45A6-8911-3A2E9AD6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528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智能感知层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BFCA2-E3D6-460F-A035-E9D8E20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 服务、双光视频分析、火点质量门控、坐标解算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9CCE8-3C10-4093-BBAD-37E08EE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CCE18-4412-4431-9B0B-F2C33CE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1F1B3-BA80-4442-A0DA-442D9E2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291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设备与媒体层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B7EBD-1C2B-4055-81F6-B643AB29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29175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M4T / RC Plus 2 / FC100、MSDK Agent、ZLMediaKit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0788C-53F2-45E7-AF85-07A1744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设计重点：利用现有 DJI 开放平台和无人机资产，补齐消防业务需要的“AI识别、处置闭环、事件留痕”。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689E2-AC3C-4903-97D7-2FE4B19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5E368-201B-4AFB-85BA-0B87022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1840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9D771-CB60-4B7E-A7CE-F2B8A830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BE95-6D46-45C0-B6B3-574C037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40AC4-6926-469A-9DCF-18795B94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空中感知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D8823-8986-40F7-8A9F-618973B1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可见光与热成像接入，AI辅助火点研判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6e8965e974c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43100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E2DD0-20A6-4682-B05B-5CBB51C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>
              <a:alpha val="80000"/>
            </a:srgbClr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EB772-C09F-4DBB-9338-0675A9D3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466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火情画面样例：用于 AI 检测、事件截图和处置留痕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E9C3D-8B4D-4889-8F93-CBB9C6D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5D6BD-A404-4F2C-9C90-EAF5728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764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实时视频接入媒体中枢，支持 WebRTC/RTSP 等链路复用。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E13B0-7B7E-4F25-B3C9-152D92F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00D04-70EC-4C03-8A6D-FCB88FC2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813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 服务对可见光/热成像进行火点、烟火特征分析。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19155-0BB4-4FA8-A6D9-E0568D0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C08CA-9217-4025-BA79-2E20742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86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事件上报携带截图、置信度、位置和质量状态。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A2FF9-F559-4765-AFE2-30D4593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EF1A3-9204-4830-97A4-613BEF6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910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后续可接入林区固定监控、气象和地形数据增强研判。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BFE90-0F33-4FDF-BA64-0D282AF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24A67-15B5-4C4D-AF72-298D026C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33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发现更早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4CA9A-FA68-44F1-8335-DFCF7C6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101CF-05B5-4C6F-A387-09846974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33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判断更稳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8BEF4-49B0-486E-AC70-503E8541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22DF4-86C1-4ADE-8AF1-8CDB5E6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339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证据留痕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BD357-87FD-4EED-A351-6C95FB76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4B1B3-5298-4367-AD1A-0983701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98788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40610-7B44-4501-B781-9AFE979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7066B-98B9-4B3F-A31D-0E715B10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D195-980E-45EE-ADC8-7979510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指挥驾驶舱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210F5-61A7-42AA-B8B2-502580E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把火情、无人机与任务状态集中到同一张作战桌面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0F2F8-1E84-4DB8-ABF1-4278B91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/>
          </a:solidFill>
          <a:ln xmlns:a="http://schemas.openxmlformats.org/drawingml/2006/main" w="9525">
            <a:solidFill>
              <a:srgbClr val="1F34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A3D1F-AF28-45CE-9465-E1102FCE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3B"/>
          </a:solidFill>
          <a:ln xmlns:a="http://schemas.openxmlformats.org/drawingml/2006/main" w="9525">
            <a:solidFill>
              <a:srgbClr val="2C45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3A73F-9439-4AFE-BA4E-FBF7C05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52197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53"/>
          </a:solidFill>
          <a:ln xmlns:a="http://schemas.openxmlformats.org/drawingml/2006/main" w="9525">
            <a:solidFill>
              <a:srgbClr val="3857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E18F9-F32C-45E4-AA35-D8DB1BB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BA406-2F49-42D2-A528-35BCB6C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FCA9A-D4A1-45E2-8FDB-B72054A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146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C9A07-1D5A-4A70-82CC-580D9A5F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671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C6BDC-7BB2-4925-82D4-768D9C79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241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29D2C-16B9-4D17-AF38-1FD0020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004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5DB91-68CA-44CC-9533-82C9F85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C737B-D392-4732-8D77-97063A0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338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296D6-E03A-4708-B64D-069BEA5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5C254-F968-4B4C-B3CB-D3D7C38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671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78062-58E7-4D8A-96CB-8F2393D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9FA6B-AC66-431B-A9D8-4652ED6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004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CA1D3-29D4-4EAE-87A9-EF2CDBB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F01C1-A5EC-43CE-A356-434F9751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338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77"/>
          </a:solidFill>
          <a:ln xmlns:a="http://schemas.openxmlformats.org/drawingml/2006/main" w="0">
            <a:solidFill>
              <a:srgbClr val="38577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53CDA-4140-489B-A18E-88600DD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14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B0392-EF87-4BF6-9219-B3AB210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861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>
              <a:alpha val="40000"/>
            </a:srgbClr>
          </a:solidFill>
          <a:ln xmlns:a="http://schemas.openxmlformats.org/drawingml/2006/main" w="9525">
            <a:solidFill>
              <a:srgbClr val="D83A2E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3F846-4DE4-4A6C-95F9-D0EE27A8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疑似火点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置信度 86%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E4503-AF6B-4279-B45B-A795EF28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4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A38F4-4475-4BE8-90C4-D4A5F8C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7647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M4T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657fa59924914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057400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AE03A-1092-4701-9842-C791123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>
              <a:alpha val="80000"/>
            </a:srgbClr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A96B7-90CE-48F7-A629-9F1AB215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0517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实时视频 / AI 火点标记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5F3A1-08D6-4C3B-939D-503E83D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57400"/>
            <a:ext cx="200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2C45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716E3-DDC4-4592-903A-7DA24974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作战事件队列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7FB1E0-1015-4A84-A34B-209C929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93AF0-739A-4A65-8A76-37FCF462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14:26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D75A6-A0B9-447E-83FE-044921F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疑似火点已生成事件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53B313-70E4-46E1-9AE6-88246AD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A3FFBB-1556-4C7E-9EFD-4D9855B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14:28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19A8C-4E7F-4D08-B743-AA10347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052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坐标质量：可派发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BFEE7-F61F-456E-8A4C-E15D63AF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6A3E7E-9125-48DA-99AD-FA3C02DD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86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14:31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9FCA53-C862-47B9-8ED5-B9316DAD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灭火任务待确认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0900FE-3918-4F1F-B045-28F7A48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08F7A7-B93C-474E-BFDA-7F977BC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767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14:35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1DC458-16A2-41A7-8337-115CDB79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863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RC Plus 已接收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F142F2-59F7-4A47-93AC-DB36441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195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A2ACD7-B5A0-47FE-BE47-3E71ED2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862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火情定位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7CBDFC-6903-42FB-AE7A-C0F1790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BE78A2-A6FE-448A-B0DF-905C85F6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862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任务派发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FF146F-62D3-4A20-AC95-01E960A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339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81F9B3-BD44-4A8E-AF98-8D90021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60057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状态回传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5489A-2C58-4EC0-B044-EB09DF48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B5ECD5-DC6C-4CEF-900D-A784587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0057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证据复盘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46D1D8-74BD-4AB9-B267-30B04931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1D166B-99D4-409A-B8D6-AE0919FC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31585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8957E-1A72-4F0A-A448-5EFE85E0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79954-1E04-41D4-973C-38E4658E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5963A-C48C-4415-9082-CE4FBD5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事件管理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722C7-D2B8-4141-BE68-39E201DD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每一次火情都沉淀为可追溯的处置档案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663EE-5F85-4D1D-AB1F-7718BC7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D6C50-0338-4466-89AA-4D76F10C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事件来源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199DA-E879-4128-9333-7CEB6855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AI识别 / 人工确认 / 外部系统接入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0B1E3-60E3-4DAC-B884-BD6B1826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CE2C2-2B7A-4DBB-818F-383B7744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9D8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F9D8F"/>
                </a:solidFill>
                <a:latin typeface="PingFang SC"/>
                <a:ea typeface="PingFang SC"/>
                <a:cs typeface="PingFang SC"/>
              </a:rPr>
              <a:t>位置质量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D0921-240E-46C3-90A0-FDF768A9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765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坐标、误差半径、DEM状态、定位来源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54574-A759-4FA9-851B-E17AFD9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4139A-5C5F-4CD4-819E-4B4446A0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处置状态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8943C-963B-4A0E-905B-934FAFA6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待确认、已派发、执行中、已完成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392F-59D9-4DAF-93C7-1E2E488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D958-78C4-4C64-929E-2CB5C570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证据材料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B5BB1-0646-40BF-9D38-D10E3589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截图、视频流、飞行与投放记录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38346-02EF-467C-B6DA-770A46D4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5AF02-ABDB-4A6B-96AC-B10236B4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价值：消防部门不仅能看到“报警”，还能看到报警的来源、可信度、处置动作和后续复盘材料。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C5BF4-AC99-436C-BD5A-14987FA1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9CEB0-4ACC-4BE9-BA78-5D8F4D9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35320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EB7C6-6CD4-479B-8D86-C8908A0B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D10D0-A2CC-4533-9226-C922FA3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CA7A4-EE3B-4D93-8E9E-AE201E3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任务处置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77CA4-02F5-4293-BBEF-F76DA80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从火点到灭火任务，形成可跟踪的执行闭环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77088-1C2A-4F4B-8ACF-D7E430AF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6325B-090C-4D96-A818-19C7139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46FFA-6DBA-4E12-8C79-C019F747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464C-41E5-4BF1-9643-192155A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火点确认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465C8-7A44-4179-A566-DF9A2E26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从 AI 事件或人工研判生成处置对象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531D9-2026-4CC0-B1D9-D89E4AC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69845-40C8-4409-B113-61B59CD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49993-61FB-4962-BFB8-49ED3E3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C0BF7-54D9-4156-BB0C-9FD6356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622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航线生成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DF75A-2ABF-4BA6-9C45-497269A8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860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结合机型、载荷和安全边界形成任务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96C3B-B2EC-4C72-B96F-0AAECA52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C8242-9579-44BC-B1D2-E8ECD4F2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CC204-F5DF-493E-9690-59E9513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E1516-11C3-4B82-BBAC-734036F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B82A5-B91C-43D1-9F81-4BFF6E7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RC Plus / MSDK Agent 接收并执行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3F3E8-3342-47E4-97F1-9EFB9CBF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DDA7F-E755-46EC-9981-3AD116C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41A7B-E001-4202-9CAF-19980BA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57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2BB59-C2F6-4392-ACAF-D34123B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622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结果回传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CC90C-4F0F-4FC8-898B-48CAE13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860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状态、投放、异常和影像统一回传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3493D-5B95-485E-B728-E877DB3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85C00-5CA2-4B8A-9A39-BB35B4E9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D9AFD-FB66-496D-AB2A-9738BF1D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6D167-5933-48E8-8540-34047F9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B27AD-4DAE-473A-B4FA-00E32CB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EEED8-EE8D-4F79-AF60-A9CDB17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4A0E4-43B7-4BB3-8069-6F855E9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FF7"/>
          </a:solidFill>
          <a:ln xmlns:a="http://schemas.openxmlformats.org/drawingml/2006/main" w="9525">
            <a:solidFill>
              <a:srgbClr val="BFE8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5F49D-549C-4665-8418-032C59C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核心卖点：让无人机任务不再停留在“飞手口头执行”，而是成为指挥端可创建、可下发、可监控、可复盘的业务单。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6CE1D-9E1E-4191-8A44-E886A3D3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F15E05-5F8D-4414-85DF-0B2E422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55678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367A5-F670-4C9C-BCFC-41EB6B0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0AF2B-EE9A-4BF1-9328-315F3A74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F058-665E-4CB1-9830-2E8A798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航线与载荷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48E44-55C8-400B-8C82-E4161D0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面向 FC100 等大载重无人机的灭火任务能力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3946C-3706-4604-8E57-6AC010DC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257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df3901f854e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924050"/>
            <a:ext cx="114300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2FA6C-00D8-404B-ACEC-B990003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航线规划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6215-BCAC-4729-9DFB-A5B4E66D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AAD0B-EEA3-47BB-9BD8-5AC3F45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1257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971e6c75346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1924050"/>
            <a:ext cx="1143000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66B9E-7030-4F43-9195-DB5C76E3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KMZ同步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4ACF8-3D15-4FC2-8AEE-89783D5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60A6D-6CA2-462F-8E25-F69107F3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66900"/>
            <a:ext cx="12573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F"/>
          </a:solidFill>
          <a:ln xmlns:a="http://schemas.openxmlformats.org/drawingml/2006/main" w="9525">
            <a:solidFill>
              <a:srgbClr val="1E88E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dcd0c2c8e48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1924050"/>
            <a:ext cx="1143000" cy="1524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35892-EF13-4B4E-923B-1222914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385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航线管理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D7DE3-68DA-431E-8A97-7512D8C6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D8FF"/>
                </a:solidFill>
                <a:latin typeface="PingFang SC"/>
                <a:ea typeface="PingFang SC"/>
                <a:cs typeface="PingFang SC"/>
              </a:rPr>
              <a:t>现场端能力入口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A6DA3-C808-4B44-9509-D86BD63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2B872-BB3A-4770-B988-80E285A1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航线库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65A90-1E83-4011-AFB5-5984FF5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导入/管理 DJI KMZ 航线，支撑标准化任务准备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C2278-2E7A-4588-A4CC-4338755F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机型适配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5D8DE-C948-4E02-83F2-DF3F254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围绕 M4T、FC100 等设备规划侦察与灭火链路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33870-5B7D-47F2-80D1-4F27CE28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载荷动作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74645-AAFC-40E3-A32B-17A9B132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支持抛投、投放、返航等关键动作进入任务记录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C4899-5C3E-448F-BB38-FEA6891E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FDADB-58E8-4996-A1E5-4D3B312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52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结合禁飞区、地形、设备状态降低现场风险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5110D-6791-4B6A-A663-C7769A53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F765D-F52C-4F15-BDC8-30B47A97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35856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7D69A-84D2-42F6-8FDF-B16FC3D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112EC-9304-4499-AC91-A1DCB42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F497E-D825-4D8D-896E-88B1465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现场执行端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9EC89-F0C5-4720-B686-5E6B581B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RC Plus 侧让无人机成为可接入指挥系统的作战终端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a796fcd324878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676400"/>
            <a:ext cx="6762750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EFA1F-ECED-4AC6-93C6-9040E64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09D13-A1BD-43CA-9E5D-891DFF2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5D4C7-B0F9-4CCD-9649-67206DC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设备状态、视频推流和后端心跳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6F6E5-FA2F-402B-9342-ADCC678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35420-8124-47C4-B306-A5D90B4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接收焦点切换、任务执行等指令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C80FA-2F12-4CE3-A59D-3360B98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F072B-527B-4BA8-B192-EE3CE6A8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回传 OSD/HMS/任务事件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18259-4966-47E7-9D10-9982B34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5DA44-E2DC-43A2-9C92-89F808EC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适配真机现场部署与调试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9FC8A-9F18-4B30-A94A-A33EC66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FC3A1-BCF1-4A61-83C0-697BF3D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2714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BBAA1-BBC4-499E-9275-292D6B3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420C-B878-49FD-9272-583A182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A6668-0C6E-4216-9A63-A033201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技术可信链路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E343-AF5D-4B36-B274-013F2E65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从无人机到指挥大屏，每个环节都有清晰边界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F2B05-AC24-49F0-8E94-E08C603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0FF7E-BC5D-44AD-A68E-8455357A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M4T / FC100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ACE25-FFC4-48CB-BE57-408DFC9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空中平台与载荷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9C8C-9137-4CFB-A348-F9266789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A4A75-1F4A-4842-9BA7-D55FEBD5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B6BA6-BDD0-4B50-9E0D-2380571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E0AA2-F0D6-4DF1-8304-A2516CF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RC Plus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99A87-23D2-43B9-B659-7BC5B97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现场执行与状态回传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09D0-0D20-40A2-BAE1-A74711C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C62FA-41B8-449F-9155-960C77D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4334D-EEA0-4C47-8561-953FFE4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7646D-6E38-4DB9-9647-6246451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ZLMediaKit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6E0BB-296E-4C1F-87B1-F2A2745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视频媒体中枢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900A1-9ABF-4D25-8D34-1541264D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08D5E-6285-4AD6-9B2B-69B5A51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24C82-4A66-41BA-AB73-450D93C4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9173E-B3B7-48E2-9FCA-6BF536F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UAVFire 后端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46237-BE46-4EB6-B2EE-3B791D4F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事件、任务、指令编排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2DFC9-C9F7-4F4B-83E6-589DA620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73544-CAC8-4D52-B38E-9801B17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6E773-40F2-431A-BAE5-C61F387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43CFE-150B-42D1-8345-6B55C51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AI 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40B54-3E3C-4CA4-A33C-6F9E40F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火点识别与分析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2E7DAB-220D-43FD-96B8-FE009629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4373E-BE2B-48E9-A959-7A763A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2DBD1-A3E0-4682-A0C0-5F6558A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812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CA642-A69E-4FC3-9E7D-35DD461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09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指挥驾驶舱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4D9CA-7DEC-4135-973E-FF41D77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33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消防业务呈现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D76E2-F0E4-4EDE-9621-EBDA563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9AB03-0B71-4F1C-8F58-E6794B0F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62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77F00-33C9-40EC-9243-7E535A4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8554FC-7B8C-4CF7-B83D-2A771B8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62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遥测/状态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56A24D-25B5-4B2A-9978-DA4313B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BC501D-F7D0-47C1-BB6E-B1DEE8B2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62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事件/任务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8EDAB-24FD-4D8A-8EE2-31A3FF5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当前项目已具备前端、后端、AI 服务、媒体服务和 MSDK Agent 的工程化边界，可按现场网络与设备条件分阶段落地。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56C46B-FBE2-419C-86C2-911FBD63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10C102-A447-4FBE-962C-AA17D474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50559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2890D-7C44-4449-86F3-2039793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664E8-1490-4D46-BCD5-FC1D71ED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A65EC-4649-4113-B860-192F9E3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客户价值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FD5EF-5320-4D51-888E-D4C37F49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消防部门获得的是响应能力升级，而不是多买一套软件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A2AB3-6BD3-4623-BC48-5C7600B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4619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B761E-D69C-492C-9973-D2972C62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9482F-C59E-4C08-B72F-2B915EB0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14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更早发现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3744B-5F92-4154-A890-A02BB0FB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52725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无人机巡护与 AI 检测前移火点发现时间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13CD4-3CA1-4673-9F29-D4BE20C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619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A0EA8-5F32-44B6-8DAD-9E959B8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F87AC-8273-4949-B755-29935858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14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D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6FDB"/>
                </a:solidFill>
                <a:latin typeface="PingFang SC"/>
                <a:ea typeface="PingFang SC"/>
                <a:cs typeface="PingFang SC"/>
              </a:rPr>
              <a:t>更快决策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1BD-83A6-41CB-9E5B-CC9D7F1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52725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视频、位置、任务状态集中到指挥端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88FDA-924D-42FB-9E65-5FC9A81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619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91AA2-22A0-4B82-B2E8-95D5175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B341E-240B-451E-B181-0E272B0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243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更少风险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9E1B0-42B7-4439-ABA6-84A8EF35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62475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人员减少深入火场，远距离执行侦察与投放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223C1-FFA5-40BA-B518-5A12593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619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37661-F6E8-4419-8ABB-15FAE40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A116B-8FC7-4B39-B5C0-18BDEDA0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243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8C2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28C28"/>
                </a:solidFill>
                <a:latin typeface="PingFang SC"/>
                <a:ea typeface="PingFang SC"/>
                <a:cs typeface="PingFang SC"/>
              </a:rPr>
              <a:t>更好复盘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A8584-C50D-4E06-BBEA-6BE857C0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62475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事件、影像、航线、投放和结果形成档案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548F4-D941-45DC-B174-B47E280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48DF9-6678-4206-A67B-43299ED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68854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B86E9-C0DA-4F69-92B5-45A31D3B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79E15-FC5D-4950-9275-784FB33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99006-E49C-45E6-97AE-0EF8C005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3A2E"/>
                </a:solidFill>
                <a:latin typeface="PingFang SC"/>
                <a:ea typeface="PingFang SC"/>
                <a:cs typeface="PingFang SC"/>
              </a:rPr>
              <a:t>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7CE19-2C9B-4D34-9D2C-68B7321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建议按“演示验证 → 试点运行 → 指挥体系接入”推进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ED942-6F58-44F8-9B8E-1226228C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E30CE-01FE-495C-B5BE-2E983B8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24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C3BF0-6AA7-4AB3-88C9-DE1D1D98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C1888-AD07-4D81-9A38-05BDC9C0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17C1A-24B4-4C4A-BCAE-C1A2D292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完成无人机推流、AI识别、火情事件和驾驶舱演示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7AA22-7153-48F2-A4F3-2FAAB132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5B681-159E-43C8-8BA5-AF0538F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24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E577F-9F91-49E8-83AE-593FEDE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2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B4808-B9E7-4C14-9D19-94BB505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试点运行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8F33D-EEEF-46A1-831D-B529BE6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338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选择重点林区/园区，形成巡护与处置 SOP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0AE2A-1608-4F7F-9565-6D17843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35148-4030-49CE-BD3D-569D2B6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B284A-F29B-48DD-853B-C62FDC6F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2ABCB-F47C-4D3A-8790-0BB92B3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业务接入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6920A-4BC2-4C91-8CD5-1280AD6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B7A"/>
                </a:solidFill>
                <a:latin typeface="PingFang SC"/>
                <a:ea typeface="PingFang SC"/>
                <a:cs typeface="PingFang SC"/>
              </a:rPr>
              <a:t>对接消防平台、应急通讯、林业监测和报表体系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CED3D-FC12-4C15-B7F2-C5D3BB1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第一阶段目标：让客户在真实网络和设备条件下看到完整闭环跑通。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FE1B2-0C04-4DA9-A019-6C17DF22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UAVFire 智能无人机火情监测与处置系统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E4DA7-4534-497B-9B3E-2F93650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A879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359034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EA16B-2529-474E-A275-54CB70D8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fab22f8c54edf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7E413-13B4-4EA5-AC83-484401D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>
              <a:alpha val="33333"/>
            </a:srgbClr>
          </a:solidFill>
          <a:ln xmlns:a="http://schemas.openxmlformats.org/drawingml/2006/main" w="0">
            <a:solidFill>
              <a:srgbClr val="0B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7C769-9635-4B6F-BE26-CC83604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85875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下一步建议：组织一次真实设备联调演示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E5EF-7D57-4E7A-896F-EFD9D8C3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6F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CE6F2"/>
                </a:solidFill>
                <a:latin typeface="PingFang SC"/>
                <a:ea typeface="PingFang SC"/>
                <a:cs typeface="PingFang SC"/>
              </a:rPr>
              <a:t>用 1 个典型火点场景，现场验证无人机推流、AI识别、火情事件、任务派发与结果回传。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96A22-5764-4AB9-9463-06FEEE6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2E"/>
          </a:solidFill>
          <a:ln xmlns:a="http://schemas.openxmlformats.org/drawingml/2006/main" w="0">
            <a:solidFill>
              <a:srgbClr val="D83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A0954-82C5-48D2-88FE-3047E54B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D8CC4-7915-478B-A44B-A8A1C37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54E41-194B-49A1-892C-2F5F7A98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004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47A2B-EB16-462E-A851-52F238DE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F"/>
          </a:solidFill>
          <a:ln xmlns:a="http://schemas.openxmlformats.org/drawingml/2006/main" w="0">
            <a:solidFill>
              <a:srgbClr val="0F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F1A9F-06BF-42FF-9D93-3496F45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004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部署报价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073B9-7875-4310-AF2E-3F74892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5D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9C5D4"/>
                </a:solidFill>
                <a:latin typeface="PingFang SC"/>
                <a:ea typeface="PingFang SC"/>
                <a:cs typeface="PingFang SC"/>
              </a:rPr>
              <a:t>UAVFire 智能无人机消防解决方案</a:t>
            </a:r>
          </a:p>
        </p:txBody>
      </p:sp>
    </p:spTree>
    <p:extLst>
      <p:ext uri="{BB962C8B-B14F-4D97-AF65-F5344CB8AC3E}">
        <p14:creationId xmlns:p14="http://schemas.microsoft.com/office/powerpoint/2010/main" val="1923208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2026-06-10T07:32:40.4880000Z</dcterms:created>
  <dcterms:modified xsi:type="dcterms:W3CDTF">2026-06-10T07:32:40.4880000Z</dcterms:modified>
</coreProperties>
</file>