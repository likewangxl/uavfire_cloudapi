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55cb977f354c50" /><Relationship Type="http://schemas.openxmlformats.org/officeDocument/2006/relationships/extended-properties" Target="/docProps/app.xml" Id="R16573546a68a4872" /><Relationship Type="http://schemas.openxmlformats.org/officeDocument/2006/relationships/officeDocument" Target="/ppt/presentation.xml" Id="R75be05a6b9cf4c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e0804775d0495b"/>
  </p:sldMasterIdLst>
  <p:notesMasterIdLst>
    <p:notesMasterId xmlns:r="http://schemas.openxmlformats.org/officeDocument/2006/relationships" r:id="Rbe1a39998001476d"/>
  </p:notesMasterIdLst>
  <p:sldIdLst>
    <p:sldId xmlns:r="http://schemas.openxmlformats.org/officeDocument/2006/relationships" id="256" r:id="R0bf2ed1f7b0146db"/>
    <p:sldId xmlns:r="http://schemas.openxmlformats.org/officeDocument/2006/relationships" id="257" r:id="R6999b366304b4b14"/>
    <p:sldId xmlns:r="http://schemas.openxmlformats.org/officeDocument/2006/relationships" id="258" r:id="Rff12f94283bb4b17"/>
    <p:sldId xmlns:r="http://schemas.openxmlformats.org/officeDocument/2006/relationships" id="259" r:id="R7d4b432b10a24acd"/>
    <p:sldId xmlns:r="http://schemas.openxmlformats.org/officeDocument/2006/relationships" id="260" r:id="R09c662f25ad24901"/>
    <p:sldId xmlns:r="http://schemas.openxmlformats.org/officeDocument/2006/relationships" id="261" r:id="Rbee892804f4b411f"/>
    <p:sldId xmlns:r="http://schemas.openxmlformats.org/officeDocument/2006/relationships" id="262" r:id="R46e5ee24f76b43e7"/>
    <p:sldId xmlns:r="http://schemas.openxmlformats.org/officeDocument/2006/relationships" id="263" r:id="R2da0f8cf1a084ecc"/>
    <p:sldId xmlns:r="http://schemas.openxmlformats.org/officeDocument/2006/relationships" id="264" r:id="R16476d6c57944952"/>
    <p:sldId xmlns:r="http://schemas.openxmlformats.org/officeDocument/2006/relationships" id="265" r:id="Re2aa810d0c704c10"/>
    <p:sldId xmlns:r="http://schemas.openxmlformats.org/officeDocument/2006/relationships" id="266" r:id="Rf78a34ef107f4977"/>
    <p:sldId xmlns:r="http://schemas.openxmlformats.org/officeDocument/2006/relationships" id="267" r:id="R6c3297dae6b94298"/>
    <p:sldId xmlns:r="http://schemas.openxmlformats.org/officeDocument/2006/relationships" id="268" r:id="R55d5606b03e74756"/>
    <p:sldId xmlns:r="http://schemas.openxmlformats.org/officeDocument/2006/relationships" id="269" r:id="Rc9cf964b2c0a480d"/>
    <p:sldId xmlns:r="http://schemas.openxmlformats.org/officeDocument/2006/relationships" id="270" r:id="R726fac3928e74125"/>
    <p:sldId xmlns:r="http://schemas.openxmlformats.org/officeDocument/2006/relationships" id="271" r:id="R3eb3a1bf9fa0481a"/>
    <p:sldId xmlns:r="http://schemas.openxmlformats.org/officeDocument/2006/relationships" id="272" r:id="Rd1e319ac61b04f3d"/>
    <p:sldId xmlns:r="http://schemas.openxmlformats.org/officeDocument/2006/relationships" id="273" r:id="R91944d01e99b47f0"/>
    <p:sldId xmlns:r="http://schemas.openxmlformats.org/officeDocument/2006/relationships" id="274" r:id="R9841531b7e2f411f"/>
    <p:sldId xmlns:r="http://schemas.openxmlformats.org/officeDocument/2006/relationships" id="275" r:id="R59bd404cfc154a43"/>
    <p:sldId xmlns:r="http://schemas.openxmlformats.org/officeDocument/2006/relationships" id="276" r:id="R6bc8df92d49f4399"/>
    <p:sldId xmlns:r="http://schemas.openxmlformats.org/officeDocument/2006/relationships" id="277" r:id="R71531eafbc5d4699"/>
    <p:sldId xmlns:r="http://schemas.openxmlformats.org/officeDocument/2006/relationships" id="278" r:id="Ra8295a648e5f4d90"/>
    <p:sldId xmlns:r="http://schemas.openxmlformats.org/officeDocument/2006/relationships" id="279" r:id="R11354527ad57468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d34d37b421480c" /><Relationship Type="http://schemas.openxmlformats.org/officeDocument/2006/relationships/slideMaster" Target="/ppt/slideMasters/slideMaster1.xml" Id="R58e0804775d0495b" /><Relationship Type="http://schemas.openxmlformats.org/officeDocument/2006/relationships/notesMaster" Target="/ppt/notesMasters/notesMaster1.xml" Id="Rbe1a39998001476d" /><Relationship Type="http://schemas.openxmlformats.org/officeDocument/2006/relationships/presProps" Target="/ppt/presProps.xml" Id="Rc42d0569597d417e" /><Relationship Type="http://schemas.openxmlformats.org/officeDocument/2006/relationships/viewProps" Target="/ppt/viewProps.xml" Id="R50f4e8e5d1604d58" /><Relationship Type="http://schemas.openxmlformats.org/officeDocument/2006/relationships/tableStyles" Target="/ppt/tableStyles.xml" Id="R1515b962eee2415e" /><Relationship Type="http://schemas.openxmlformats.org/officeDocument/2006/relationships/slide" Target="/ppt/slides/slide1.xml" Id="R0bf2ed1f7b0146db" /><Relationship Type="http://schemas.openxmlformats.org/officeDocument/2006/relationships/slide" Target="/ppt/slides/slide2.xml" Id="R6999b366304b4b14" /><Relationship Type="http://schemas.openxmlformats.org/officeDocument/2006/relationships/slide" Target="/ppt/slides/slide3.xml" Id="Rff12f94283bb4b17" /><Relationship Type="http://schemas.openxmlformats.org/officeDocument/2006/relationships/slide" Target="/ppt/slides/slide4.xml" Id="R7d4b432b10a24acd" /><Relationship Type="http://schemas.openxmlformats.org/officeDocument/2006/relationships/slide" Target="/ppt/slides/slide5.xml" Id="R09c662f25ad24901" /><Relationship Type="http://schemas.openxmlformats.org/officeDocument/2006/relationships/slide" Target="/ppt/slides/slide6.xml" Id="Rbee892804f4b411f" /><Relationship Type="http://schemas.openxmlformats.org/officeDocument/2006/relationships/slide" Target="/ppt/slides/slide7.xml" Id="R46e5ee24f76b43e7" /><Relationship Type="http://schemas.openxmlformats.org/officeDocument/2006/relationships/slide" Target="/ppt/slides/slide8.xml" Id="R2da0f8cf1a084ecc" /><Relationship Type="http://schemas.openxmlformats.org/officeDocument/2006/relationships/slide" Target="/ppt/slides/slide9.xml" Id="R16476d6c57944952" /><Relationship Type="http://schemas.openxmlformats.org/officeDocument/2006/relationships/slide" Target="/ppt/slides/slide10.xml" Id="Re2aa810d0c704c10" /><Relationship Type="http://schemas.openxmlformats.org/officeDocument/2006/relationships/slide" Target="/ppt/slides/slide11.xml" Id="Rf78a34ef107f4977" /><Relationship Type="http://schemas.openxmlformats.org/officeDocument/2006/relationships/slide" Target="/ppt/slides/slide12.xml" Id="R6c3297dae6b94298" /><Relationship Type="http://schemas.openxmlformats.org/officeDocument/2006/relationships/slide" Target="/ppt/slides/slide13.xml" Id="R55d5606b03e74756" /><Relationship Type="http://schemas.openxmlformats.org/officeDocument/2006/relationships/slide" Target="/ppt/slides/slide14.xml" Id="Rc9cf964b2c0a480d" /><Relationship Type="http://schemas.openxmlformats.org/officeDocument/2006/relationships/slide" Target="/ppt/slides/slide15.xml" Id="R726fac3928e74125" /><Relationship Type="http://schemas.openxmlformats.org/officeDocument/2006/relationships/slide" Target="/ppt/slides/slide16.xml" Id="R3eb3a1bf9fa0481a" /><Relationship Type="http://schemas.openxmlformats.org/officeDocument/2006/relationships/slide" Target="/ppt/slides/slide17.xml" Id="Rd1e319ac61b04f3d" /><Relationship Type="http://schemas.openxmlformats.org/officeDocument/2006/relationships/slide" Target="/ppt/slides/slide18.xml" Id="R91944d01e99b47f0" /><Relationship Type="http://schemas.openxmlformats.org/officeDocument/2006/relationships/slide" Target="/ppt/slides/slide19.xml" Id="R9841531b7e2f411f" /><Relationship Type="http://schemas.openxmlformats.org/officeDocument/2006/relationships/slide" Target="/ppt/slides/slide20.xml" Id="R59bd404cfc154a43" /><Relationship Type="http://schemas.openxmlformats.org/officeDocument/2006/relationships/slide" Target="/ppt/slides/slide21.xml" Id="R6bc8df92d49f4399" /><Relationship Type="http://schemas.openxmlformats.org/officeDocument/2006/relationships/slide" Target="/ppt/slides/slide22.xml" Id="R71531eafbc5d4699" /><Relationship Type="http://schemas.openxmlformats.org/officeDocument/2006/relationships/slide" Target="/ppt/slides/slide23.xml" Id="Ra8295a648e5f4d90" /><Relationship Type="http://schemas.openxmlformats.org/officeDocument/2006/relationships/slide" Target="/ppt/slides/slide24.xml" Id="R11354527ad5746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fbf0b73e7948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3de6b52a7240eb" /><Relationship Type="http://schemas.openxmlformats.org/officeDocument/2006/relationships/notesMaster" Target="/ppt/notesMasters/notesMaster1.xml" Id="R29b1e8eb13c54e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f1e4430e75419d" /><Relationship Type="http://schemas.openxmlformats.org/officeDocument/2006/relationships/notesMaster" Target="/ppt/notesMasters/notesMaster1.xml" Id="Rda0b8f8765f544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651ec5fe9742ac" /><Relationship Type="http://schemas.openxmlformats.org/officeDocument/2006/relationships/notesMaster" Target="/ppt/notesMasters/notesMaster1.xml" Id="Racaaa77efa7a4b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1f621199d3448d" /><Relationship Type="http://schemas.openxmlformats.org/officeDocument/2006/relationships/notesMaster" Target="/ppt/notesMasters/notesMaster1.xml" Id="Rfe2aa11dab1c45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f2861c664b46ea" /><Relationship Type="http://schemas.openxmlformats.org/officeDocument/2006/relationships/notesMaster" Target="/ppt/notesMasters/notesMaster1.xml" Id="R6956315508d44d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e27ee081f64855" /><Relationship Type="http://schemas.openxmlformats.org/officeDocument/2006/relationships/notesMaster" Target="/ppt/notesMasters/notesMaster1.xml" Id="R185f7cc1646d4b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014329cca74a5d" /><Relationship Type="http://schemas.openxmlformats.org/officeDocument/2006/relationships/notesMaster" Target="/ppt/notesMasters/notesMaster1.xml" Id="R5ca0d205192645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38f7b2c13e49f0" /><Relationship Type="http://schemas.openxmlformats.org/officeDocument/2006/relationships/notesMaster" Target="/ppt/notesMasters/notesMaster1.xml" Id="Rb39aa32345f442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e27f9c3f714bc7" /><Relationship Type="http://schemas.openxmlformats.org/officeDocument/2006/relationships/notesMaster" Target="/ppt/notesMasters/notesMaster1.xml" Id="R36c0b8e46f654eb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7490f1fa304f53" /><Relationship Type="http://schemas.openxmlformats.org/officeDocument/2006/relationships/notesMaster" Target="/ppt/notesMasters/notesMaster1.xml" Id="R7f670d0887994f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28ad9826dc346c5" /><Relationship Type="http://schemas.openxmlformats.org/officeDocument/2006/relationships/notesMaster" Target="/ppt/notesMasters/notesMaster1.xml" Id="Rf2e419b052664e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ad175f8b4b743cf" /><Relationship Type="http://schemas.openxmlformats.org/officeDocument/2006/relationships/notesMaster" Target="/ppt/notesMasters/notesMaster1.xml" Id="Rae81a6aa1819475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cdac0f8c8bc44fa" /><Relationship Type="http://schemas.openxmlformats.org/officeDocument/2006/relationships/notesMaster" Target="/ppt/notesMasters/notesMaster1.xml" Id="R568711fa5b6b480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3ce0ccf3e9c4f9d" /><Relationship Type="http://schemas.openxmlformats.org/officeDocument/2006/relationships/notesMaster" Target="/ppt/notesMasters/notesMaster1.xml" Id="Rdeeda920f2cc4cf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b84ad179a734492" /><Relationship Type="http://schemas.openxmlformats.org/officeDocument/2006/relationships/notesMaster" Target="/ppt/notesMasters/notesMaster1.xml" Id="R4c42acdbece448c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dd62168dfa34d62" /><Relationship Type="http://schemas.openxmlformats.org/officeDocument/2006/relationships/notesMaster" Target="/ppt/notesMasters/notesMaster1.xml" Id="R0c672dd9625d417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56cb977b2854da8" /><Relationship Type="http://schemas.openxmlformats.org/officeDocument/2006/relationships/notesMaster" Target="/ppt/notesMasters/notesMaster1.xml" Id="R57c424f0c5ba4b3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017dade54e64629" /><Relationship Type="http://schemas.openxmlformats.org/officeDocument/2006/relationships/notesMaster" Target="/ppt/notesMasters/notesMaster1.xml" Id="R8161b0321575472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16cdf14eb5d4464" /><Relationship Type="http://schemas.openxmlformats.org/officeDocument/2006/relationships/notesMaster" Target="/ppt/notesMasters/notesMaster1.xml" Id="R5ed68109f5ca438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7337e28e5a94dfc" /><Relationship Type="http://schemas.openxmlformats.org/officeDocument/2006/relationships/notesMaster" Target="/ppt/notesMasters/notesMaster1.xml" Id="R0a68479f63ea414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0dfad32cd2f4685" /><Relationship Type="http://schemas.openxmlformats.org/officeDocument/2006/relationships/notesMaster" Target="/ppt/notesMasters/notesMaster1.xml" Id="R7c889d91b7fc444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08606116ff64a64" /><Relationship Type="http://schemas.openxmlformats.org/officeDocument/2006/relationships/notesMaster" Target="/ppt/notesMasters/notesMaster1.xml" Id="Re09ab5cf69ee4c4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03ad2148f10401e" /><Relationship Type="http://schemas.openxmlformats.org/officeDocument/2006/relationships/notesMaster" Target="/ppt/notesMasters/notesMaster1.xml" Id="R7e86d3bf3459461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1da0d89cdbc402c" /><Relationship Type="http://schemas.openxmlformats.org/officeDocument/2006/relationships/notesMaster" Target="/ppt/notesMasters/notesMaster1.xml" Id="Rc0561b888ebd4f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a06c686ba048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9a475030914ac6" /><Relationship Type="http://schemas.openxmlformats.org/officeDocument/2006/relationships/slideLayout" Target="/ppt/slideLayouts/slideLayout1.xml" Id="Rb676bf26194244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76bf26194244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e132411fb4ee8" /><Relationship Type="http://schemas.openxmlformats.org/officeDocument/2006/relationships/image" Target="/ppt/media/image.png" Id="Rb217827fbb0d42cc" /><Relationship Type="http://schemas.openxmlformats.org/officeDocument/2006/relationships/notesSlide" Target="/ppt/notesSlides/notesSlide1.xml" Id="R87d8faca2ca74d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28ded5bcd46c9" /><Relationship Type="http://schemas.openxmlformats.org/officeDocument/2006/relationships/notesSlide" Target="/ppt/notesSlides/notesSlide2.xml" Id="R24e12bcc7b0e4d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0739719e5473b" /><Relationship Type="http://schemas.openxmlformats.org/officeDocument/2006/relationships/notesSlide" Target="/ppt/notesSlides/notesSlide3.xml" Id="R3c6bf3abbaa448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4d2c0a48e47b7" /><Relationship Type="http://schemas.openxmlformats.org/officeDocument/2006/relationships/notesSlide" Target="/ppt/notesSlides/notesSlide4.xml" Id="R20360b3eca6542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fbedac12447ea" /><Relationship Type="http://schemas.openxmlformats.org/officeDocument/2006/relationships/notesSlide" Target="/ppt/notesSlides/notesSlide5.xml" Id="Rfecc7417a9914c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02914b25d4c98" /><Relationship Type="http://schemas.openxmlformats.org/officeDocument/2006/relationships/notesSlide" Target="/ppt/notesSlides/notesSlide6.xml" Id="Rb0bbe391f01f4b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ec124715e4df3" /><Relationship Type="http://schemas.openxmlformats.org/officeDocument/2006/relationships/notesSlide" Target="/ppt/notesSlides/notesSlide7.xml" Id="Rb322faa09f4c42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7f7f2a8f94226" /><Relationship Type="http://schemas.openxmlformats.org/officeDocument/2006/relationships/notesSlide" Target="/ppt/notesSlides/notesSlide8.xml" Id="R7056ac7988604e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dcc87b1c5474d" /><Relationship Type="http://schemas.openxmlformats.org/officeDocument/2006/relationships/image" Target="/ppt/media/image.jpeg" Id="R5c70239eeee64b1d" /><Relationship Type="http://schemas.openxmlformats.org/officeDocument/2006/relationships/notesSlide" Target="/ppt/notesSlides/notesSlide9.xml" Id="R0bababadbf6947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636f668ef4899" /><Relationship Type="http://schemas.openxmlformats.org/officeDocument/2006/relationships/notesSlide" Target="/ppt/notesSlides/notesSlide10.xml" Id="Re36d63b0673646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b3c5999d7948ec" /><Relationship Type="http://schemas.openxmlformats.org/officeDocument/2006/relationships/image" Target="/ppt/media/image2.jpeg" Id="Rf98418f2ec164aad" /><Relationship Type="http://schemas.openxmlformats.org/officeDocument/2006/relationships/notesSlide" Target="/ppt/notesSlides/notesSlide11.xml" Id="R0c019cd89e4648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11070d466466f" /><Relationship Type="http://schemas.openxmlformats.org/officeDocument/2006/relationships/notesSlide" Target="/ppt/notesSlides/notesSlide12.xml" Id="R224ab9a768dc45a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79ca2cb35478c" /><Relationship Type="http://schemas.openxmlformats.org/officeDocument/2006/relationships/notesSlide" Target="/ppt/notesSlides/notesSlide13.xml" Id="Rc06109e6e51c4b4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572bf669146c4" /><Relationship Type="http://schemas.openxmlformats.org/officeDocument/2006/relationships/notesSlide" Target="/ppt/notesSlides/notesSlide14.xml" Id="R172a24fc72cd4c0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8ad504f0e4c91" /><Relationship Type="http://schemas.openxmlformats.org/officeDocument/2006/relationships/image" Target="/ppt/media/image2.png" Id="Rf41492b98c6945c7" /><Relationship Type="http://schemas.openxmlformats.org/officeDocument/2006/relationships/notesSlide" Target="/ppt/notesSlides/notesSlide15.xml" Id="Re9e8787a3bff4c2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b7fcdd83245c2" /><Relationship Type="http://schemas.openxmlformats.org/officeDocument/2006/relationships/image" Target="/ppt/media/image3.png" Id="R1657084f8f614549" /><Relationship Type="http://schemas.openxmlformats.org/officeDocument/2006/relationships/notesSlide" Target="/ppt/notesSlides/notesSlide16.xml" Id="Rc388387fbefb451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cce66bb114817" /><Relationship Type="http://schemas.openxmlformats.org/officeDocument/2006/relationships/image" Target="/ppt/media/image4.png" Id="R2bcbef9109784bb2" /><Relationship Type="http://schemas.openxmlformats.org/officeDocument/2006/relationships/image" Target="/ppt/media/image5.png" Id="R1d91349326c0492c" /><Relationship Type="http://schemas.openxmlformats.org/officeDocument/2006/relationships/image" Target="/ppt/media/image6.png" Id="Rc66d1bab1cf04eab" /><Relationship Type="http://schemas.openxmlformats.org/officeDocument/2006/relationships/notesSlide" Target="/ppt/notesSlides/notesSlide17.xml" Id="R7ba977638f5c485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8fdf8f4c8451b" /><Relationship Type="http://schemas.openxmlformats.org/officeDocument/2006/relationships/notesSlide" Target="/ppt/notesSlides/notesSlide18.xml" Id="R04cfe6285ec74b2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f6dcdca1a4371" /><Relationship Type="http://schemas.openxmlformats.org/officeDocument/2006/relationships/notesSlide" Target="/ppt/notesSlides/notesSlide19.xml" Id="R21192118fd9c40e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1f803585f4ece" /><Relationship Type="http://schemas.openxmlformats.org/officeDocument/2006/relationships/notesSlide" Target="/ppt/notesSlides/notesSlide20.xml" Id="R44569591fa1e4fc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c2b7a829d4411" /><Relationship Type="http://schemas.openxmlformats.org/officeDocument/2006/relationships/notesSlide" Target="/ppt/notesSlides/notesSlide21.xml" Id="Rc5bedc88afe04f1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fcbd885b34695" /><Relationship Type="http://schemas.openxmlformats.org/officeDocument/2006/relationships/notesSlide" Target="/ppt/notesSlides/notesSlide22.xml" Id="Radc1c5d2299044e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efec6799f4edc" /><Relationship Type="http://schemas.openxmlformats.org/officeDocument/2006/relationships/notesSlide" Target="/ppt/notesSlides/notesSlide23.xml" Id="Rdf3f4bee0b2c4ab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282afe140470f" /><Relationship Type="http://schemas.openxmlformats.org/officeDocument/2006/relationships/image" Target="/ppt/media/image7.png" Id="R077e35f987914c73" /><Relationship Type="http://schemas.openxmlformats.org/officeDocument/2006/relationships/notesSlide" Target="/ppt/notesSlides/notesSlide24.xml" Id="R2d071937b48549c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17827fbb0d42c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B3700-152A-4F4C-96A8-A9DF87F2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F">
              <a:alpha val="80000"/>
            </a:srgbClr>
          </a:solidFill>
          <a:ln xmlns:a="http://schemas.openxmlformats.org/drawingml/2006/main" w="0">
            <a:solidFill>
              <a:srgbClr val="06101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C275B-C9CF-4EE3-A93E-7BB414D6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2701CD-BD84-4ABB-B5EC-27E0C4A8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8175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消防部门销售介绍版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383BB3-0C37-4CFA-9B8F-518BD4D4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7429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智能无人机火情监测与快速处置系统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F4332-7C28-42F5-AB5A-B0B7221D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647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CE6F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DCE6F2"/>
                </a:solidFill>
                <a:latin typeface="PingFang SC"/>
                <a:ea typeface="PingFang SC"/>
                <a:cs typeface="PingFang SC"/>
              </a:rPr>
              <a:t>面向森林、山地、园区与重点设施火灾场景，提供“发现、研判、定位、派发、执行、复盘”的无人机作战闭环。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38D98-A833-454A-88A5-D9BE53C0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AC7D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BAC7D7"/>
                </a:solidFill>
                <a:latin typeface="PingFang SC"/>
                <a:ea typeface="PingFang SC"/>
                <a:cs typeface="PingFang SC"/>
              </a:rPr>
              <a:t>UAVFire | 客户交流材料</a:t>
            </a:r>
          </a:p>
        </p:txBody>
      </p:sp>
    </p:spTree>
    <p:extLst>
      <p:ext uri="{BB962C8B-B14F-4D97-AF65-F5344CB8AC3E}">
        <p14:creationId xmlns:p14="http://schemas.microsoft.com/office/powerpoint/2010/main" val="44903446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1D9E0D-1A55-4118-823C-67859578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F5F7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25903-E143-4C1B-8729-ADB8FB73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7A3802-1954-4E44-8672-49E0263F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行业背景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EE8FB-2CB0-4267-BBDB-56767EB8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森林草原防灭火进入“监测预警 + 空地一体”阶段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456B0-2DDC-48D0-9EE6-6B87F397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084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27084"/>
                </a:solidFill>
                <a:latin typeface="PingFang SC"/>
                <a:ea typeface="PingFang SC"/>
                <a:cs typeface="PingFang SC"/>
              </a:rPr>
              <a:t>消防客户关注的不只是无人机，而是能不能更早发现、更快调度、更安全处置。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54500-1187-477E-869C-B455B19C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266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431701-DE45-4AE6-ADC7-EB8045DE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226起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D329F4-EE29-41E0-885F-0BBD77B6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2025年全国森林草原火灾起数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D0B0A6-75A3-46E7-B466-9381C27D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09800"/>
            <a:ext cx="2266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3A3F27-937E-424B-A7A9-CE83FBC1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384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FD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F6FDB"/>
                </a:solidFill>
                <a:latin typeface="PingFang SC"/>
                <a:ea typeface="PingFang SC"/>
                <a:cs typeface="PingFang SC"/>
              </a:rPr>
              <a:t>连续5年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B8F8CC-B077-49AF-803D-EC64610F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956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火灾起数控制在千位数以内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CF85DF-E2F0-4944-88AA-530A64E5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09800"/>
            <a:ext cx="2266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6D851A-E8AB-4FD6-A99E-755533A9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384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9D8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F9D8F"/>
                </a:solidFill>
                <a:latin typeface="PingFang SC"/>
                <a:ea typeface="PingFang SC"/>
                <a:cs typeface="PingFang SC"/>
              </a:rPr>
              <a:t>空地一体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B351B5-F71A-4689-9042-B2943551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956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被明确作为战法创新方向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623160-AC95-4CEA-B97D-0F81327E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09800"/>
            <a:ext cx="2266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B27B55-1E21-4084-AADB-516E2E56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384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8C2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28C28"/>
                </a:solidFill>
                <a:latin typeface="PingFang SC"/>
                <a:ea typeface="PingFang SC"/>
                <a:cs typeface="PingFang SC"/>
              </a:rPr>
              <a:t>风险加大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2AF62B-3A25-41AF-A9D3-79D09624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956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极端天气增多，防风险任务艰巨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C3CFAC-D6E6-48FD-BC10-8CE15DC1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F2"/>
          </a:solidFill>
          <a:ln xmlns:a="http://schemas.openxmlformats.org/drawingml/2006/main" w="9525">
            <a:solidFill>
              <a:srgbClr val="F3BD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400555-667C-4233-B042-0D207B73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14850"/>
            <a:ext cx="967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系统价值切入点：把无人机纳入消防部门“监测预警、航空救援、空地协同、数据复盘”的日常能力建设。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F5B10F-93F8-44E4-AB43-779AE3A5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资料：应急管理部/国家消防救援局/大疆官方公开资料，结合 UAVFire 当前项目模块整理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BC3505-D46B-44D0-9F89-40C5B250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8462597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B0F169-99FD-4193-A812-113E4CC1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F5F7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C2CC1-C0A2-439C-861B-2C44C91F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3C346-0326-46FA-859C-72F0E891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现状挑战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CC1538-4519-42F6-B170-76BA5C89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消防现场最怕三件事：看不清、到不了、调不动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54A52-2B61-4569-A71F-29779646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4A3F25-0F5C-4B44-8C1F-5EB27B02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D8FD8-FFD3-41D0-AFA2-239A23DB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1935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看不清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B08CA-9896-4735-A43F-AC3059BE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19400"/>
            <a:ext cx="26860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夜间、烟雾、遮挡和山地地形让人工巡查难以及时发现暗火、复燃点和蔓延边界。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95D42F-EC13-473A-9F2A-D7C15C32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9075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F3429B-781F-4515-A74B-ACC4B240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907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CE3EBD-BA4B-4E11-B707-66366FBA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1935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8C2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28C28"/>
                </a:solidFill>
                <a:latin typeface="PingFang SC"/>
                <a:ea typeface="PingFang SC"/>
                <a:cs typeface="PingFang SC"/>
              </a:rPr>
              <a:t>到不了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F631C5-3E31-49AC-AA1B-232290D6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19400"/>
            <a:ext cx="26860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山路、林区、坡地和危险区域限制人员/车辆抵近，黄金扑救窗口被路程消耗。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45B14D-9B9A-4FB4-B83D-2F343DA5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7B552F-6434-4D35-A1B1-E2C7E09F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25FED1-BAE8-4C8B-BF23-2A8A802B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1935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6FD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F6FDB"/>
                </a:solidFill>
                <a:latin typeface="PingFang SC"/>
                <a:ea typeface="PingFang SC"/>
                <a:cs typeface="PingFang SC"/>
              </a:rPr>
              <a:t>调不动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F833E2-CAF0-4AE3-869C-8F39D06B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19400"/>
            <a:ext cx="26860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视频、坐标、设备状态和处置任务分散在不同系统，现场指挥缺少统一作战桌面。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209CD4-BB04-453C-ABD3-10187BE6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95875"/>
            <a:ext cx="971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UAVFire 的销售主张：不是替代消防队伍，而是让空中力量变成可调度、可留痕、可复盘的作战单元。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3E548F-2C34-4EAD-92B2-02A1A6ED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UAVFire 智能无人机火情监测与快速处置系统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6D745A-1767-4F4E-BDD8-00A0936C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9069684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631792-9CCD-4765-902E-C535132D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F5F7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A1B1C-4176-4D1D-BD2E-CC5288B3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75FE8-B815-43D8-9ECA-BCA2FE16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技术趋势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0286B-4B71-486C-B240-813E1F30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国家消防科技方向正在从装备单点走向“侦灭救全流程智能化”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30CC07-6156-43D5-9D60-A1409693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084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27084"/>
                </a:solidFill>
                <a:latin typeface="PingFang SC"/>
                <a:ea typeface="PingFang SC"/>
                <a:cs typeface="PingFang SC"/>
              </a:rPr>
              <a:t>公开项目指南已把无人机、机器人、AI、数字孪生、集群控制、精准作业列入消防救援核心技术方向。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63175-E9DF-41C1-9A8E-EF0C074D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428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169584-044D-4670-ADFF-32AB1E80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28CB5C-61A0-4E12-8F03-5812B7C0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753836-476A-4F49-BA6E-9CCE8874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6700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灾情辨识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35632D-A78B-4258-804B-F5BA3403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84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84"/>
                </a:solidFill>
                <a:latin typeface="PingFang SC"/>
                <a:ea typeface="PingFang SC"/>
                <a:cs typeface="PingFang SC"/>
              </a:rPr>
              <a:t>视频关键对象识别，辅助研判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DA7581-BA32-40EE-B463-437E5E7D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9718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5D8"/>
          </a:solidFill>
          <a:ln xmlns:a="http://schemas.openxmlformats.org/drawingml/2006/main" w="0">
            <a:solidFill>
              <a:srgbClr val="B7C5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67C935-D259-4959-A6C1-1A2ECBB6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33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5D8"/>
          </a:solidFill>
          <a:ln xmlns:a="http://schemas.openxmlformats.org/drawingml/2006/main" w="0">
            <a:solidFill>
              <a:srgbClr val="B7C5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0870CE-1E13-43B7-83C3-CA025432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1428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F4596-1E88-4159-B584-185D56C1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47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63C8B8-DE74-44B3-BE04-F1B9068B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2415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89E614-F6B9-4477-9219-D4B875DB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6700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应急通讯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BCA3C8-3B55-43BB-B240-7168EA1B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670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84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84"/>
                </a:solidFill>
                <a:latin typeface="PingFang SC"/>
                <a:ea typeface="PingFang SC"/>
                <a:cs typeface="PingFang SC"/>
              </a:rPr>
              <a:t>多链路融合，保障火场通信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765D74-5016-4307-80CA-C72BCF85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718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5D8"/>
          </a:solidFill>
          <a:ln xmlns:a="http://schemas.openxmlformats.org/drawingml/2006/main" w="0">
            <a:solidFill>
              <a:srgbClr val="B7C5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E0EAC8-2054-421F-A612-B1A2BFF4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33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5D8"/>
          </a:solidFill>
          <a:ln xmlns:a="http://schemas.openxmlformats.org/drawingml/2006/main" w="0">
            <a:solidFill>
              <a:srgbClr val="B7C5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5BBF12-FEAF-4DE9-B0FC-ACC0A883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76500"/>
            <a:ext cx="1428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94DFC8-3096-4224-BDAD-B2FCA624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47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F"/>
          </a:solidFill>
          <a:ln xmlns:a="http://schemas.openxmlformats.org/drawingml/2006/main" w="0">
            <a:solidFill>
              <a:srgbClr val="0F9D8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3DE49F-8D29-41DB-8D47-899C3196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2415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F58AD6-05EF-4D4B-A9F4-EFD6740F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6700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集群控制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FC3456-DD08-43C2-896A-0489354D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670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84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84"/>
                </a:solidFill>
                <a:latin typeface="PingFang SC"/>
                <a:ea typeface="PingFang SC"/>
                <a:cs typeface="PingFang SC"/>
              </a:rPr>
              <a:t>多机任务协同，减少人工操作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49D686-EFC2-4FBB-9745-0A6E7F76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718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5D8"/>
          </a:solidFill>
          <a:ln xmlns:a="http://schemas.openxmlformats.org/drawingml/2006/main" w="0">
            <a:solidFill>
              <a:srgbClr val="B7C5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36C977-04D5-47C9-B28F-E2DA8925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33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5D8"/>
          </a:solidFill>
          <a:ln xmlns:a="http://schemas.openxmlformats.org/drawingml/2006/main" w="0">
            <a:solidFill>
              <a:srgbClr val="B7C5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0CCBD2-83C0-4005-8556-83154B0F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76500"/>
            <a:ext cx="1428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918615-8053-44A3-8601-E7C1F164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47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791AD8-5D2C-4B54-AB38-A85BA2E6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2415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B80DE0-471B-46E0-B2AD-0E613F17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6700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精准作业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E0F1F6-4EF5-42AA-B1DD-9AF9E251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670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84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84"/>
                </a:solidFill>
                <a:latin typeface="PingFang SC"/>
                <a:ea typeface="PingFang SC"/>
                <a:cs typeface="PingFang SC"/>
              </a:rPr>
              <a:t>航线规划、定位、投放闭环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2D6167-8309-4A24-8F7E-61B2885B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718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5D8"/>
          </a:solidFill>
          <a:ln xmlns:a="http://schemas.openxmlformats.org/drawingml/2006/main" w="0">
            <a:solidFill>
              <a:srgbClr val="B7C5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5BB41D-B0C4-4821-A394-57C85CC6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33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5D8"/>
          </a:solidFill>
          <a:ln xmlns:a="http://schemas.openxmlformats.org/drawingml/2006/main" w="0">
            <a:solidFill>
              <a:srgbClr val="B7C5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BE18F5-C3A7-41DB-9B93-4967D57D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76500"/>
            <a:ext cx="1428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01C894-CAF9-4E10-8FAF-87DB842B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47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B4D96C-3E4D-4101-ABB9-280965CA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913F2B-A09C-4970-B752-863BF8FF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6700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示范验证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930632-BABB-4272-8A19-3C5C3126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670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84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84"/>
                </a:solidFill>
                <a:latin typeface="PingFang SC"/>
                <a:ea typeface="PingFang SC"/>
                <a:cs typeface="PingFang SC"/>
              </a:rPr>
              <a:t>演练与试点形成可复制方案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0712E5-A206-43AD-922A-5F792015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62500"/>
            <a:ext cx="9867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BFD9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E48E63-B26C-4654-A2FC-46C25065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53000"/>
            <a:ext cx="923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这正好对应 UAVFire 的产品路径：先实现单机闭环，再扩展多机协同和消防平台接入。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222F43-5E08-4879-BB71-7A6D49CE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资料：应急管理部/国家消防救援局/大疆官方公开资料，结合 UAVFire 当前项目模块整理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769966-E579-4395-A0DD-DDBBB990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144893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8A4495-C103-4E92-AE50-C42CCD74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F5F7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E0252E-C116-4804-93B3-10F4CA31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F"/>
          </a:solidFill>
          <a:ln xmlns:a="http://schemas.openxmlformats.org/drawingml/2006/main" w="0">
            <a:solidFill>
              <a:srgbClr val="0F9D8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3616E-1377-4302-8B56-02A0F8EF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方案总览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03D21-4853-4E5C-83E3-FA93464B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从火情发现到处置复盘，一套系统闭环承接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7B125-4CC1-4A52-B588-CE7ACDC4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428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FFC7F7-C35A-42EF-83CF-2D4C8505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43E7F-08FE-456E-B7F8-5E6D23F0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0220C-5C00-4438-BCFD-AE72ED18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717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巡护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F2A1FB-DE36-4F62-AB2B-3F890AD0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84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84"/>
                </a:solidFill>
                <a:latin typeface="PingFang SC"/>
                <a:ea typeface="PingFang SC"/>
                <a:cs typeface="PingFang SC"/>
              </a:rPr>
              <a:t>无人机可见光/热成像巡查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23EA03-B4AF-4781-94E3-2460D8FD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8765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5D8"/>
          </a:solidFill>
          <a:ln xmlns:a="http://schemas.openxmlformats.org/drawingml/2006/main" w="0">
            <a:solidFill>
              <a:srgbClr val="B7C5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5313DB-4875-4F0A-BED8-779F1A69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38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5D8"/>
          </a:solidFill>
          <a:ln xmlns:a="http://schemas.openxmlformats.org/drawingml/2006/main" w="0">
            <a:solidFill>
              <a:srgbClr val="B7C5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9460B6-30D4-4803-9529-402875E0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81250"/>
            <a:ext cx="1428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05D549-AFB3-40C9-AAF8-4301B5F4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5527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A75C5C-DEBA-47EA-A323-AA87D476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289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F364EF-8155-45CA-B777-E18C9687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717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识别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AB98B1-88B1-401B-9F3A-4B740A59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7180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84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84"/>
                </a:solidFill>
                <a:latin typeface="PingFang SC"/>
                <a:ea typeface="PingFang SC"/>
                <a:cs typeface="PingFang SC"/>
              </a:rPr>
              <a:t>AI 火点/烟火特征分析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6079C9-8C28-4F04-89B9-CB4D9D39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8765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5D8"/>
          </a:solidFill>
          <a:ln xmlns:a="http://schemas.openxmlformats.org/drawingml/2006/main" w="0">
            <a:solidFill>
              <a:srgbClr val="B7C5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F8168D-A2B7-47BB-B6E5-7F360A74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38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5D8"/>
          </a:solidFill>
          <a:ln xmlns:a="http://schemas.openxmlformats.org/drawingml/2006/main" w="0">
            <a:solidFill>
              <a:srgbClr val="B7C5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F4EEE5-17ED-457D-B222-E8BD7D94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1428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DB17B9-F8E6-4162-8F9C-B164F752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527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F"/>
          </a:solidFill>
          <a:ln xmlns:a="http://schemas.openxmlformats.org/drawingml/2006/main" w="0">
            <a:solidFill>
              <a:srgbClr val="0F9D8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36A1F9-F622-4731-B416-B45DA8E3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289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ACC75B-656E-4C03-BF04-A8AC2B88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5717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47C61F-5C6B-40A8-A289-1BCF889B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7180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84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84"/>
                </a:solidFill>
                <a:latin typeface="PingFang SC"/>
                <a:ea typeface="PingFang SC"/>
                <a:cs typeface="PingFang SC"/>
              </a:rPr>
              <a:t>坐标、误差半径、质量门控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3E2D44-7DF1-409C-8C3D-211AD7A6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765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5D8"/>
          </a:solidFill>
          <a:ln xmlns:a="http://schemas.openxmlformats.org/drawingml/2006/main" w="0">
            <a:solidFill>
              <a:srgbClr val="B7C5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3FEFC8-FD8A-4D4C-9904-B8061A5E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8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5D8"/>
          </a:solidFill>
          <a:ln xmlns:a="http://schemas.openxmlformats.org/drawingml/2006/main" w="0">
            <a:solidFill>
              <a:srgbClr val="B7C5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D5E24F-021D-4DCC-B281-4B5B5144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1428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A5C4FF-2D7F-4157-8571-336316F5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527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A867D2-0296-4370-889E-F2F225BC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289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F7F009-D2BE-465C-848C-03DD15F7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派发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7ED948-926E-4BA7-BCAF-B39D18ED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7180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84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84"/>
                </a:solidFill>
                <a:latin typeface="PingFang SC"/>
                <a:ea typeface="PingFang SC"/>
                <a:cs typeface="PingFang SC"/>
              </a:rPr>
              <a:t>生成航线与灭火任务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F12AD4-11FF-4104-AE62-F72B9DB5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765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5D8"/>
          </a:solidFill>
          <a:ln xmlns:a="http://schemas.openxmlformats.org/drawingml/2006/main" w="0">
            <a:solidFill>
              <a:srgbClr val="B7C5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E85777-0254-422C-A04C-A963FC00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38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5D8"/>
          </a:solidFill>
          <a:ln xmlns:a="http://schemas.openxmlformats.org/drawingml/2006/main" w="0">
            <a:solidFill>
              <a:srgbClr val="B7C5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3CD90F-ED42-41B5-B27D-309B66DA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1428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082D04-E7AC-45A3-84BC-AC0702E0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527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B47DB5-A52A-4C82-B21A-B9507E0E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289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C265AD-0F3F-4688-ADCC-26748A07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717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118D2A-7A24-4C10-BAEA-E8C3DF41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7180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84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84"/>
                </a:solidFill>
                <a:latin typeface="PingFang SC"/>
                <a:ea typeface="PingFang SC"/>
                <a:cs typeface="PingFang SC"/>
              </a:rPr>
              <a:t>RC Plus 接收并回传状态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EB5E66-2FFA-450C-9F5E-06EAE13D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765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5D8"/>
          </a:solidFill>
          <a:ln xmlns:a="http://schemas.openxmlformats.org/drawingml/2006/main" w="0">
            <a:solidFill>
              <a:srgbClr val="B7C5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35B364-6647-4CB3-87FE-C119AE0F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38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5D8"/>
          </a:solidFill>
          <a:ln xmlns:a="http://schemas.openxmlformats.org/drawingml/2006/main" w="0">
            <a:solidFill>
              <a:srgbClr val="B7C5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D59702-E054-4C2B-9365-5FE5E25F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81250"/>
            <a:ext cx="1428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8E5EEA-9955-4EBD-9D3E-E1CBC764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527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A"/>
          </a:solidFill>
          <a:ln xmlns:a="http://schemas.openxmlformats.org/drawingml/2006/main" w="0">
            <a:solidFill>
              <a:srgbClr val="0B172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014F65-CF5F-4442-8FD4-4F2FC2CF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6289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33EBE1-B153-47D6-8C6F-FF60A4E1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5717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复盘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392085-CE84-447D-9CC5-9DE44187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97180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27084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84"/>
                </a:solidFill>
                <a:latin typeface="PingFang SC"/>
                <a:ea typeface="PingFang SC"/>
                <a:cs typeface="PingFang SC"/>
              </a:rPr>
              <a:t>事件、影像、航线留痕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78E4E5B-38BB-4777-B6BD-65D97166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1009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客户看到的是一条完整业务链：发现即建档，建档即可派发，执行全程可视，结果自动沉淀。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9760E3-A37A-47C6-A779-1778CA76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UAVFire 智能无人机火情监测与快速处置系统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A87999E-E8DE-4E2D-B8AC-304EEB79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2073714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EBF056-CE1F-4B6B-92AE-AEA6366A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F5F7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A12885-E52C-45FD-A930-C83CA464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7F5A73-4BED-494A-B5EE-F996B3EE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典型应用场景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F9D8F9-3024-48B7-91B6-46AC00FE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覆盖消防部门日常防控、应急处置和战后复盘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DB443-EF10-474C-AA7D-49EA1720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47875"/>
            <a:ext cx="23812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D1C2B8-BB26-4B11-ABCF-F79A1311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8CF26-72D5-42C2-B3CA-B883B747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76475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6FD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F6FDB"/>
                </a:solidFill>
                <a:latin typeface="PingFang SC"/>
                <a:ea typeface="PingFang SC"/>
                <a:cs typeface="PingFang SC"/>
              </a:rPr>
              <a:t>日常巡护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A47E1-50E7-4B18-AF73-69ED4B72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76525"/>
            <a:ext cx="19240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重点林区、景区、园区、输电通道定时巡查，发现烟火或异常热源后自动入库。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A27FF2-D9B2-416C-B336-35A95FF6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47875"/>
            <a:ext cx="23812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D54F4A-175F-411E-9DAC-532E02FD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0F4241-856F-47EE-AA4C-6A1C95BB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276475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接警复核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04867E-3941-4607-B096-D3217FAD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76525"/>
            <a:ext cx="19240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接到群众报警或外部平台告警后，无人机快速抵近复核，减少误报和空跑。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749625-580A-46B6-8FFC-CBCBE307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23812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BDE697-CB70-499D-A92C-70A66A2F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FEF7D7-A839-492B-A500-088418C9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76475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8C2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28C28"/>
                </a:solidFill>
                <a:latin typeface="PingFang SC"/>
                <a:ea typeface="PingFang SC"/>
                <a:cs typeface="PingFang SC"/>
              </a:rPr>
              <a:t>初期处置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1ECCD-297D-4F1C-A954-B3FD4635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76525"/>
            <a:ext cx="19240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对小火点、复燃点、人员难抵近区域，快速生成任务并执行抛投/投放。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E8191B-6330-47AC-81AB-6A39A4CE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47875"/>
            <a:ext cx="23812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068A63-F6F7-4AC7-8024-A88DC50E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F"/>
          </a:solidFill>
          <a:ln xmlns:a="http://schemas.openxmlformats.org/drawingml/2006/main" w="0">
            <a:solidFill>
              <a:srgbClr val="0F9D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780F23-04C8-4173-B5FB-44D177FD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76475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9D8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F9D8F"/>
                </a:solidFill>
                <a:latin typeface="PingFang SC"/>
                <a:ea typeface="PingFang SC"/>
                <a:cs typeface="PingFang SC"/>
              </a:rPr>
              <a:t>复盘训练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665249-2B10-4C0C-B9EE-CA5958B5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76525"/>
            <a:ext cx="19240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自动沉淀事件、航线、视频、任务状态，为战术复盘和培训提供资料。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626457-0CFC-492E-904C-6EDEC2C3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UAVFire 智能无人机火情监测与快速处置系统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25EDE0-1734-4E07-8A28-B50B394C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5094214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2D59F0-DA94-473B-8394-D0B59245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F5F7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C6191-0D89-493F-9720-BDAF0AFF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C8BB4-A264-47FE-96DF-9F583561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系统模块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41981-F48A-4E47-86FF-B4BC1355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产品不是一张大屏，而是一组可落地的消防业务模块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AF8E3C-EF7E-4ABF-80B5-959F794D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381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8BD5D4-8C53-4A33-9F32-3E3A51EC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6A651-EF78-4149-A378-DC3C8BFE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指挥驾驶舱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94C35-9F67-4E99-BC0A-8727F76E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192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态势图、直播、AI风险、任务状态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4EBDE-AC90-4979-8EAB-4AA00261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95500"/>
            <a:ext cx="2381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E1D9DF-0FCF-4160-8D71-A4CDD7C4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9550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B84868-991A-404B-9A0D-B29FBBD6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241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6FD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F6FDB"/>
                </a:solidFill>
                <a:latin typeface="PingFang SC"/>
                <a:ea typeface="PingFang SC"/>
                <a:cs typeface="PingFang SC"/>
              </a:rPr>
              <a:t>火情事件库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E802D0-3594-4230-80C7-431A3E30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192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事件、坐标质量、截图、通知记录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8105DC-9192-46C3-8B2B-6640DAF8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2381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F779DB-B6B7-4624-9DFC-BAFD6526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04C73D-C907-40A0-B0EB-B04B0634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8C2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28C28"/>
                </a:solidFill>
                <a:latin typeface="PingFang SC"/>
                <a:ea typeface="PingFang SC"/>
                <a:cs typeface="PingFang SC"/>
              </a:rPr>
              <a:t>灭火任务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BE767D-F1D4-41C1-8501-B09EED08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24150"/>
            <a:ext cx="192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任务派发、执行状态、结果回传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CAE459-DC59-4F6B-9060-B099FA23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95500"/>
            <a:ext cx="2381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CFA3C7-EA54-45E4-80C6-C0513D3D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9550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F"/>
          </a:solidFill>
          <a:ln xmlns:a="http://schemas.openxmlformats.org/drawingml/2006/main" w="0">
            <a:solidFill>
              <a:srgbClr val="0F9D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84A84D-DC79-4D74-B502-4D075AFA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241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9D8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F9D8F"/>
                </a:solidFill>
                <a:latin typeface="PingFang SC"/>
                <a:ea typeface="PingFang SC"/>
                <a:cs typeface="PingFang SC"/>
              </a:rPr>
              <a:t>航线规划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E03880-125D-465A-8F3E-F570EB9B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24150"/>
            <a:ext cx="192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KMZ导入、航点动作、路线预览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44F307-F216-4081-B2B2-44824560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5200"/>
            <a:ext cx="2381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C419BF-B7AA-40C2-B2AD-4C61ECE8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520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81AA5F-C092-4D7D-98D5-AE7B1D0C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载荷投放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AD038D-6ED5-48DC-BBBC-E9CBD4D4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192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抛投/投放动作与安全确认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F8D9EA-3A48-4056-88EC-0BEBECB0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505200"/>
            <a:ext cx="2381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B7C2CE-4E4F-41D1-9EE0-686C98BC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50520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16C39D-7A2C-43E7-AAF5-E3ACDF2E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338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6FD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F6FDB"/>
                </a:solidFill>
                <a:latin typeface="PingFang SC"/>
                <a:ea typeface="PingFang SC"/>
                <a:cs typeface="PingFang SC"/>
              </a:rPr>
              <a:t>RC Plus 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CE48DF-0E10-432F-B11C-C99061A2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33850"/>
            <a:ext cx="192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现场执行、推流、遥测与指令回执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1D7A7F-C40E-4BDC-8869-F375C56E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2381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219FD0-1E0C-4572-A0E9-7BACBF8D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001B84-058E-44DF-B951-081083DE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338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8C2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28C28"/>
                </a:solidFill>
                <a:latin typeface="PingFang SC"/>
                <a:ea typeface="PingFang SC"/>
                <a:cs typeface="PingFang SC"/>
              </a:rPr>
              <a:t>AI服务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D6F129-9573-43E5-873C-EA2F11BA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33850"/>
            <a:ext cx="192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火点识别、热源分析、截图上报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0C5CBD-5112-4A1E-BF78-C6A117CF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05200"/>
            <a:ext cx="2381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129DC6-A93B-420A-B6C4-D047B39C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0520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F"/>
          </a:solidFill>
          <a:ln xmlns:a="http://schemas.openxmlformats.org/drawingml/2006/main" w="0">
            <a:solidFill>
              <a:srgbClr val="0F9D8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DB0DB2-FA6A-4C1E-848F-E13BBBF4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338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9D8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F9D8F"/>
                </a:solidFill>
                <a:latin typeface="PingFang SC"/>
                <a:ea typeface="PingFang SC"/>
                <a:cs typeface="PingFang SC"/>
              </a:rPr>
              <a:t>媒体中枢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8D04A0-299C-472B-A00C-6E2FCD74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33850"/>
            <a:ext cx="192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RTSP/WebRTC/RTMP 流转发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D06CA6-92C0-4C9A-92C1-3D424FDF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UAVFire 智能无人机火情监测与快速处置系统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E4C89D-39E0-4372-B7EC-D5558412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6981589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EBF5B5-744F-4552-9874-35A4BC6E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F5F7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CBCBD5-1261-4ADC-AD00-D3E07A20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DBE16E-2578-47EA-B492-2548ACC4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系统界面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E0FC4-B8A5-40A8-B20C-ED0DA71E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指挥驾驶舱：一屏看火情、无人机、任务和风险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3222C-1D79-4F7F-97A6-432EBCBE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7239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F"/>
          </a:solidFill>
          <a:ln xmlns:a="http://schemas.openxmlformats.org/drawingml/2006/main" w="9525">
            <a:solidFill>
              <a:srgbClr val="C9D6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976F6-F10B-4BFE-89B1-61A94613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8"/>
          </a:solidFill>
          <a:ln xmlns:a="http://schemas.openxmlformats.org/drawingml/2006/main" w="0">
            <a:solidFill>
              <a:srgbClr val="1323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E21EE-FD93-4FC9-8097-3BB0A665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UAVFire 指挥驾驶舱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403290-95A1-4388-BB37-46BCDFDF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4191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A3C"/>
          </a:solidFill>
          <a:ln xmlns:a="http://schemas.openxmlformats.org/drawingml/2006/main" w="0">
            <a:solidFill>
              <a:srgbClr val="1B2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7FDA13-3204-4E1E-B64C-512A21C2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4384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49A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8E90A-F92D-4AB4-82DF-7479A9CC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8384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4D34D1-AF30-4FA2-9E43-0ABD49A4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38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49A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05A3A6-FB08-44F5-990A-984132D8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6385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49A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17E0B4-4C0E-4ED8-885E-BF2AE0A0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0386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49A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30B7C3-4BCD-4085-91F7-93BEC853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386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49A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14494E-1870-4E6B-A097-F832065E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4095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9525">
            <a:solidFill>
              <a:srgbClr val="36577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716148-A522-4BCE-934B-456F875A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384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178150-3576-4F2F-BA4A-A902A887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767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43FDC2-4C99-4D48-BEC5-BDEDAA7D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1813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B8EF6B-B68C-4B83-A041-549AEEA9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671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49EA41-2569-4A20-AC8F-F3C70C28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5242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20E7F3-DE7A-4986-B727-7ECAD8CD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576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6106E9-4925-4423-96FC-C3A7AC9E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384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6C528C-6287-4176-BEC0-956A41F4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448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B0C9B0-F56D-47D5-85FF-1E741DDD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68DF0B-8BF4-4720-8545-40F29F61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767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7F2468-D40B-4B3A-8684-3C9B9825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242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DDC349-6911-4C7E-9604-1FA06D32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8671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A54D9F-4DD7-487F-9F9B-8E32D7F2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384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3FF269-0FF2-470B-9FCE-C3A286D1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576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BE067C-59B2-445D-9ED2-B7C72C2E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813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6D11EC-3BE0-4F69-8DA8-6491018B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448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93D778-7345-4F16-9286-6455C2BE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0E3204-46B8-4F04-866A-06EFF5CB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0767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F26109-0935-4855-994D-C061932C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384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C8EA95-6B7E-4673-948B-36C87668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671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3F5135-2CAB-4F72-9CBC-EA3181E8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9020" y="3433763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E5161E-5BA8-4396-A549-7FC63D2A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3409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>
              <a:alpha val="40000"/>
            </a:srgbClr>
          </a:solidFill>
          <a:ln xmlns:a="http://schemas.openxmlformats.org/drawingml/2006/main" w="9525">
            <a:solidFill>
              <a:srgbClr val="D83A2E">
                <a:alpha val="60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4C486C-57D9-4824-861C-74CC90B4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4765" y="3338513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疑似火点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置信度 86%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A47F26-34BF-4DBB-B621-D3E61D8D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085" y="2957513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7D1CEB-906A-4803-8DF5-D0DD330E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3915" y="29337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F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F7FF"/>
                </a:solidFill>
                <a:latin typeface="PingFang SC"/>
                <a:ea typeface="PingFang SC"/>
                <a:cs typeface="PingFang SC"/>
              </a:rPr>
              <a:t>M4T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AD23F4-CEAB-456B-BD51-E5F7F411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81250"/>
            <a:ext cx="2266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7C4483-2354-412F-BD33-CDA47EFC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098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9D8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F9D8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A157DC-3FBB-4575-A322-1064DCE3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670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在线无人机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9B094E2-6A44-47A1-A3EC-5AEA18D0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771900"/>
            <a:ext cx="2266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CD08DA0-A3D4-458A-9C2D-34502622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005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1BB1166-DC73-4D34-A5CD-961F4211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577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待处置火情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2E39512-CB4A-4DF8-91BD-341D4D80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383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C9A540B-E7B1-403F-B2CB-11BFB1FA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860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客户现场能直接回答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B9D127C-E87F-411A-8E90-3A4C71DF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33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F02F4B9-31ED-4D23-BCE2-6DAF21BB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575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火点在哪里，风险等级如何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D692DC0-1AAB-44F0-B5AB-AB53A3AE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67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BF276DA-EFA6-45F1-B177-D2D96F81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909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哪架无人机在线、视频是否可用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80F869C-F6B4-4ACC-A943-B09F9204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00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1B4E8AB-91AC-4BED-A100-63CA6D91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243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任务是否派发，执行到哪一步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D91A1D1-0C98-404D-AC57-FA5219F4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33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44BAC4D-3B18-48DA-AC40-1189563B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577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哪些数据缺口需要人工补充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F3A2D99-6AA6-43CE-951E-2CBA6D1B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UAVFire 智能无人机火情监测与快速处置系统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1AA2DFC-F563-4DBC-9C74-C811A2F3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2485944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778CE3-64D8-49F1-9480-E3BA552D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F5F7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03476C-F847-4A71-B9E2-3C6D7255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F"/>
          </a:solidFill>
          <a:ln xmlns:a="http://schemas.openxmlformats.org/drawingml/2006/main" w="0">
            <a:solidFill>
              <a:srgbClr val="0F9D8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9A9A90-C4F8-4DF3-8223-39AA507B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系统界面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52909-49C5-4FA0-9001-13B2E62D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双光火情监测：可见光、热成像与 AI 结果并排研判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9A4DA-54FA-4B59-9EE3-95A0CCD7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7810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F"/>
          </a:solidFill>
          <a:ln xmlns:a="http://schemas.openxmlformats.org/drawingml/2006/main" w="9525">
            <a:solidFill>
              <a:srgbClr val="C9D6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6ECBD1-07E0-422C-BEA2-428CAAA2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8"/>
          </a:solidFill>
          <a:ln xmlns:a="http://schemas.openxmlformats.org/drawingml/2006/main" w="0">
            <a:solidFill>
              <a:srgbClr val="1323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B2F37-CCB5-4691-9A66-FF4A69C0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UAVFire 火情监测画面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367DD-751B-4334-AC1E-27DFA431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4191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A3C"/>
          </a:solidFill>
          <a:ln xmlns:a="http://schemas.openxmlformats.org/drawingml/2006/main" w="0">
            <a:solidFill>
              <a:srgbClr val="1B2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57CB4E-CF05-4FCC-ABE0-C5CCD530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4003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49A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B5AF1-79C7-4F87-A988-DE8E93B5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003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F6DBC5-A22F-45F8-81AB-86BD711B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004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49A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E75E2A-C4A7-44D4-82C7-1D809C6D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004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49A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6944D8-AC28-4605-8E93-74E9AE14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000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49A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C91800-4372-4F6A-AF7C-83A9D572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005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49A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70239eeee64b1d"/>
          <a:srcRect xmlns:a="http://schemas.openxmlformats.org/drawingml/2006/main" l="4464" t="0" r="44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00150" y="2381250"/>
            <a:ext cx="3238500" cy="20002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83D252-732F-4AB8-B1F8-EA4234FA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81250"/>
            <a:ext cx="285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52A"/>
          </a:solidFill>
          <a:ln xmlns:a="http://schemas.openxmlformats.org/drawingml/2006/main" w="9525">
            <a:solidFill>
              <a:srgbClr val="D857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C59FDC-500C-40F6-A35D-8CE4085A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003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3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6C89AA-75B4-4508-B08E-E2D8E3B7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7182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0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37EDA8-EA24-435E-B8F5-ABE02851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343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3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F88607-BDC4-4A67-9A21-94C9C8F1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003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0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5EFC09-F1F0-4988-8F42-8EA54558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7182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3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2ACB6B-D655-4E48-83F3-A0E18CE2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43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0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BA2DB9-9CD3-4906-9E46-294343F3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003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3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A7C35D-C02C-4AD8-9862-DB5C8148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908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热成像热点分布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CC2490-BFDC-4BA8-B501-C60A6593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910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8523DD-56C2-4158-812F-6D73A7BB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577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可见光画面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701137-048E-44E2-AAB8-4587AD28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910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F824AF-62CB-4CA3-B7BC-23413D7D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577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热成像画面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5512FF-211D-4569-806F-FA8B1A98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52650"/>
            <a:ext cx="24574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D84831-1B7A-4FB6-BF72-C3255FC0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0030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AI 实时结论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F085E9-6D31-4BF1-8879-3A95839E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28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776BC1-EFC9-49B9-9C2A-FBEC38A3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527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融合分数 0.86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BC9CB2-ABD8-4DB8-9A82-E71ABF10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62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A3C879-B117-42F4-BFD3-404919F8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861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风险等级 HIGH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CD703C-5D97-4532-824F-4BED8AE5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BC19C3-ED31-4C8F-9B32-DF1139A7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195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建议派发复核任务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BF3EFD-8097-443A-8915-986B4D72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UAVFire 智能无人机火情监测与快速处置系统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104559-1AB3-437A-9DB4-971D08F5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7747449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39D4CF-D68E-4EC5-BA49-FB18734F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F5F7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EF07C-C8C1-4BDF-AD6A-06387652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A650C-7C8D-4496-9C4C-3ECBCDEC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系统界面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B93FE-9BA0-4D57-88E7-25DF17F7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AI 风险事件：把视频分析结果变成可处理的事件队列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9477D-DD58-4567-80E0-0BC621B3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99060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F"/>
          </a:solidFill>
          <a:ln xmlns:a="http://schemas.openxmlformats.org/drawingml/2006/main" w="9525">
            <a:solidFill>
              <a:srgbClr val="C9D6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258EB2-8247-49A5-A0B1-4AD1E429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8"/>
          </a:solidFill>
          <a:ln xmlns:a="http://schemas.openxmlformats.org/drawingml/2006/main" w="0">
            <a:solidFill>
              <a:srgbClr val="1323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66599-20C1-4F0E-866C-335972E3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UAVFire AI 风险事件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6F964D-0B0A-4F48-899D-6183BBEC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4191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A3C"/>
          </a:solidFill>
          <a:ln xmlns:a="http://schemas.openxmlformats.org/drawingml/2006/main" w="0">
            <a:solidFill>
              <a:srgbClr val="1B2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048A6F-0158-4803-865F-BF4AC5B2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76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49A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481526-7D51-4488-8A68-433A5160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765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08158E-5358-4F32-A8C4-C0E96207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766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49A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69A308-AD24-4300-9DDD-A7CDF516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766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49A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B08237-5BB0-4D10-9003-E6616E38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767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49A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01FC61-6C91-4BDC-A16B-A7FA3F4B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49A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1A8733-D6BD-4E45-A459-49992448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3365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DEDD91-5BB0-451F-A6E9-D7E195A7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28900"/>
            <a:ext cx="1466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27084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627084"/>
                </a:solidFill>
                <a:latin typeface="PingFang SC"/>
                <a:ea typeface="PingFang SC"/>
                <a:cs typeface="PingFang SC"/>
              </a:rPr>
              <a:t>时间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63C015-A794-4267-B46D-AADD2FE0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28900"/>
            <a:ext cx="1466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27084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627084"/>
                </a:solidFill>
                <a:latin typeface="PingFang SC"/>
                <a:ea typeface="PingFang SC"/>
                <a:cs typeface="PingFang SC"/>
              </a:rPr>
              <a:t>通道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2D35D7-A575-4120-AEF3-2B49B591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28900"/>
            <a:ext cx="1466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27084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627084"/>
                </a:solidFill>
                <a:latin typeface="PingFang SC"/>
                <a:ea typeface="PingFang SC"/>
                <a:cs typeface="PingFang SC"/>
              </a:rPr>
              <a:t>等级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B8B7D-E6C8-478C-88E1-92DD6A48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28900"/>
            <a:ext cx="1466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27084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627084"/>
                </a:solidFill>
                <a:latin typeface="PingFang SC"/>
                <a:ea typeface="PingFang SC"/>
                <a:cs typeface="PingFang SC"/>
              </a:rPr>
              <a:t>分数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BA0659-4095-4A89-A2C6-6BA7A940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28900"/>
            <a:ext cx="1466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27084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627084"/>
                </a:solidFill>
                <a:latin typeface="PingFang SC"/>
                <a:ea typeface="PingFang SC"/>
                <a:cs typeface="PingFang SC"/>
              </a:rPr>
              <a:t>处理状态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CDA850-E499-48F5-A413-08E70354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575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A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8DC618-3BBC-4B4C-9E96-9326C841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62275"/>
            <a:ext cx="1466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14:26:12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837DF8-F305-493D-872A-358D13A8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62275"/>
            <a:ext cx="1466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可见光 + 热源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A4179A-A00F-4882-8771-C037020A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62275"/>
            <a:ext cx="1466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HIGH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93B363-B87C-480C-A628-1A6B8CC1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62275"/>
            <a:ext cx="1466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0.86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EFF829-62B7-4900-BEC9-0F7C1A49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62275"/>
            <a:ext cx="1466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待人工复核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A130D0-6369-425F-B7DA-FB19D2DA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1945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A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BB51EF-0EDA-4B72-A7EF-40D04D16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24225"/>
            <a:ext cx="1466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14:18:43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7CE581-CB73-4227-97FA-FD737DBF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24225"/>
            <a:ext cx="1466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可见光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C12EE7-D911-4FD1-8D4D-84DAD43A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24225"/>
            <a:ext cx="1466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MEDIUM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9B258E-1920-47DC-8793-87FCCFD4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24225"/>
            <a:ext cx="1466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0.67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CE5AEF-E490-46E2-B331-17EEA42D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24225"/>
            <a:ext cx="1466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已转火情事件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131D0F-A373-4B1B-801D-3884D2CC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814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A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931908-2B43-48B1-A92E-99ECA17D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86175"/>
            <a:ext cx="1466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14:05:10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BD0CE0-98CB-45A7-930F-2EE1E8D0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86175"/>
            <a:ext cx="1466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热源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44F598-4FEA-4650-A09E-91C7F1A7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86175"/>
            <a:ext cx="1466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LOW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5EB6D3-0613-4144-AC3A-62E24D1D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86175"/>
            <a:ext cx="1466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0.42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9745F5-23A8-4C8E-85EE-E0360BCB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86175"/>
            <a:ext cx="1466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忽略 / 观察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EFA818-E98E-4F35-A23C-50A47820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4335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AF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C91559-3BBA-497F-8908-590E8D5A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48125"/>
            <a:ext cx="1466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13:51:29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2EA34C-9DA5-4337-BE24-E48D4E64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48125"/>
            <a:ext cx="1466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烟雾特征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4C437B-B0AF-430E-BCAD-FED2EA43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048125"/>
            <a:ext cx="1466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MEDIUM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77B2D6-E447-4C85-9C50-F9B412D4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48125"/>
            <a:ext cx="1466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0.71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C5C9DC5-91DA-4BC9-AE3F-8B79F0C3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48125"/>
            <a:ext cx="1466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已通知值班员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F9C6D3B-06F8-44E9-B675-4B1D802F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9585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销售话术：AI 不直接替代指挥员，而是把“需要看一眼”的风险优先排到前面。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CBF85B-7F29-4C0C-8987-CF97123C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UAVFire 智能无人机火情监测与快速处置系统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64246E6-57AD-4355-AFEA-234196C6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7420413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520519-006B-4073-8A00-86EC5E9C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F5F7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84E53-C47C-4872-9159-2E296316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7D410-1D07-460F-8EF7-A3B269AF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系统界面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26C36-4FFE-4A30-A584-F910810D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火情事件档案：发现、定位、确认、派发全程留痕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EF2E4-476E-4EA8-A175-34F4BC4F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477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F"/>
          </a:solidFill>
          <a:ln xmlns:a="http://schemas.openxmlformats.org/drawingml/2006/main" w="9525">
            <a:solidFill>
              <a:srgbClr val="C9D6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8A527-E974-4259-A0C1-394925BF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47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8"/>
          </a:solidFill>
          <a:ln xmlns:a="http://schemas.openxmlformats.org/drawingml/2006/main" w="0">
            <a:solidFill>
              <a:srgbClr val="1323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8900D-5A40-4EFF-9FF8-E64F2E06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UAVFire 火情事件库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B6B79-1053-43A3-B1BE-E25E5952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4191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A3C"/>
          </a:solidFill>
          <a:ln xmlns:a="http://schemas.openxmlformats.org/drawingml/2006/main" w="0">
            <a:solidFill>
              <a:srgbClr val="1B2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6DCC3A-18C2-4E62-9722-CD0055CD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4193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49A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ECDE7F-E9E9-4763-8C0D-B74A5CD9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8194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CAC39D-88D4-4B51-B126-D4570509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2194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49A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B03EE2-20AF-4DE7-8F0E-8AD77B3A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619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49A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0651F0-8AE4-42E9-9494-A4AFCE37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0195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49A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5468C-8BD0-43B7-8F99-BAC53010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4196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49A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8418f2ec164aad"/>
          <a:srcRect xmlns:a="http://schemas.openxmlformats.org/drawingml/2006/main" l="2516" t="0" r="25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38250" y="2419350"/>
            <a:ext cx="2476500" cy="14668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D261EF-CE13-4484-86C0-09DE3049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08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27084"/>
                </a:solidFill>
                <a:latin typeface="PingFang SC"/>
                <a:ea typeface="PingFang SC"/>
                <a:cs typeface="PingFang SC"/>
              </a:rPr>
              <a:t>事件截图 / 视频证据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87035B-B2D8-4729-8DA5-BD75667E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1935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B1B56B-E021-4239-9AFF-45A2D438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14600"/>
            <a:ext cx="1304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27084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627084"/>
                </a:solidFill>
                <a:latin typeface="PingFang SC"/>
                <a:ea typeface="PingFang SC"/>
                <a:cs typeface="PingFang SC"/>
              </a:rPr>
              <a:t>事件编号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E050FD-32EF-468B-9B4B-E653BD30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514600"/>
            <a:ext cx="1304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27084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627084"/>
                </a:solidFill>
                <a:latin typeface="PingFang SC"/>
                <a:ea typeface="PingFang SC"/>
                <a:cs typeface="PingFang SC"/>
              </a:rPr>
              <a:t>等级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19D018-CF7C-4FC6-AE41-1A65CFB1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14600"/>
            <a:ext cx="1304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27084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627084"/>
                </a:solidFill>
                <a:latin typeface="PingFang SC"/>
                <a:ea typeface="PingFang SC"/>
                <a:cs typeface="PingFang SC"/>
              </a:rPr>
              <a:t>定位质量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92C18B-B8BA-48C8-AF55-FB754C33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514600"/>
            <a:ext cx="1304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27084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627084"/>
                </a:solidFill>
                <a:latin typeface="PingFang SC"/>
                <a:ea typeface="PingFang SC"/>
                <a:cs typeface="PingFang SC"/>
              </a:rPr>
              <a:t>状态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60D88B-72BB-4DDE-8236-C02ABFE4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43200"/>
            <a:ext cx="590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A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1F30F3-BF98-49E4-B5CB-1A286B71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47975"/>
            <a:ext cx="1304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FIRE-20260610-001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8742FD-97FB-4B5D-868C-D612F573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847975"/>
            <a:ext cx="1304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HIGH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DE7DBF-E59B-49AD-924F-41A709D4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47975"/>
            <a:ext cx="1304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AUTO_WAYPOINT_READY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5A43EE-1A13-4AD9-9D6C-ED563E89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847975"/>
            <a:ext cx="1304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待派发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85A10A-B3D1-41DB-9A0A-42B11526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05150"/>
            <a:ext cx="590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A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138F14-2DD3-4AC8-8C3E-E550C013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09925"/>
            <a:ext cx="1304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FIRE-20260610-002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CC2111-51CD-4284-A317-FDF51A43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209925"/>
            <a:ext cx="1304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MEDIUM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D1C037-DEEB-4C05-A9BB-6F31CE1A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09925"/>
            <a:ext cx="1304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OSD_FALLBACK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F5B6A7-883C-47FE-9684-41AF2328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209925"/>
            <a:ext cx="1304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待复核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702025-9B22-4047-B9CE-1469841C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67100"/>
            <a:ext cx="590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AF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868B17-AA23-40CD-900C-F4621513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71875"/>
            <a:ext cx="1304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FIRE-20260610-003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46621F-C52F-412A-A306-788F41BC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571875"/>
            <a:ext cx="1304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LOW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C98142-30B9-420D-AF49-D2527A2D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71875"/>
            <a:ext cx="1304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DEM_MISSING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48E8B4-360E-4ABF-9AF4-613E6208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571875"/>
            <a:ext cx="1304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观察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0B5A22-5F3D-49EE-AE1C-D6FCA142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10125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3C080E-505A-452D-A2AF-07D7C6B4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876800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来源可追溯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B25956-B009-4BA6-9EEC-056EDCF6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810125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F"/>
          </a:solidFill>
          <a:ln xmlns:a="http://schemas.openxmlformats.org/drawingml/2006/main" w="0">
            <a:solidFill>
              <a:srgbClr val="0F9D8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929045-2E13-429A-A01F-CCEA5E39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876800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坐标可解释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186E33-C831-4E61-9C38-34C92598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10125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0AB882-D266-4AF0-91A3-EE1721AC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76800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任务可关联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A6A5F7-6681-4016-80DB-5967D6DE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810125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B8C6AE-A4F4-4A3B-A635-C402557A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76800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复盘可导出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AE89448-FCA1-4AF0-A810-C2FDBAB3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UAVFire 智能无人机火情监测与快速处置系统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9841662-FDF9-4977-B962-C0BAF476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6448805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35FC4F-A739-4675-8E6C-4786A3C2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F5F7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3B8C7C-D7C1-4BAF-B106-FDA3DC8A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F"/>
          </a:solidFill>
          <a:ln xmlns:a="http://schemas.openxmlformats.org/drawingml/2006/main" w="0">
            <a:solidFill>
              <a:srgbClr val="0F9D8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51BFE5-4809-4D1C-9690-1EB5C066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系统界面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08F2F7-392A-4F6F-91FD-A5AAF191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火点定位质量：让客户知道坐标是否能用于任务派发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7276F-2E72-4F62-9628-1857A899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9055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F"/>
          </a:solidFill>
          <a:ln xmlns:a="http://schemas.openxmlformats.org/drawingml/2006/main" w="9525">
            <a:solidFill>
              <a:srgbClr val="C9D6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A051C0-54F1-48B1-A191-CC7C0D94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90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8"/>
          </a:solidFill>
          <a:ln xmlns:a="http://schemas.openxmlformats.org/drawingml/2006/main" w="0">
            <a:solidFill>
              <a:srgbClr val="1323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2A926-2319-4EAC-877A-6B9ADBA0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火点坐标质量卡片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5CA93-ED96-4604-8E24-B2036382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4191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A3C"/>
          </a:solidFill>
          <a:ln xmlns:a="http://schemas.openxmlformats.org/drawingml/2006/main" w="0">
            <a:solidFill>
              <a:srgbClr val="1B2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15BD1A-4A1A-47B8-B5EA-CC669A10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4955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49A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178C5B-3ECC-4D28-BA75-C8A61847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8956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41D18A-DAD7-47FE-AFB6-BDBD41CD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2956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49A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49A3A8-5A34-40F0-BE91-CAA55843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6957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49A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EAE635-1A74-4D40-8EE2-9117E174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0957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49A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D32EF4-E634-4AA6-9CAA-05B49154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4958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49A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E5DD38-9E39-4409-93AE-4B02C1B1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33650"/>
            <a:ext cx="4095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9525">
            <a:solidFill>
              <a:srgbClr val="36577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D95BE3-6AB6-49B6-998C-01CD7584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099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DA9743-1540-4DCE-BE01-C35B885A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576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D06B3E-DE19-4B28-8960-DC107A44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3528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C6BE30-A358-48F0-91AD-A6B2A362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481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4D51F7-28B6-4168-8099-18C0ABEB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957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0EBCFD-D181-4800-9B90-74A42DC0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6385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27078E-E009-4367-AEAF-F47517EF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099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3736DC-130E-4602-A9F5-6A7DB4EF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290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FCB08D-C763-4241-B460-E3036FAF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528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C8A0FA-ADCE-4385-8B1E-A7114532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576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C96197-40A0-45E8-B57C-201134EE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957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252311-E854-455E-B9A1-F05D03EB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481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1A1F84-13C6-41C8-99F6-A66BB4FE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099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D3FB3C-B47C-4AEA-ADCD-F685916C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385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D6F02C-29A4-4F6F-B900-69CFA1A8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3528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3579EA-5CA2-49AD-87E1-1DC90E22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4290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D6ACE5-2FB2-40FC-99DA-2760CD02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957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63BFEA-6173-432C-AB81-20AF5E05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576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EC6D57-FC01-4F3A-886D-E488B055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99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2D0FB4-12F2-4425-BCF8-B1D74EC1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481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F6B260-90FC-4A81-A292-52B933FA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8070" y="3519488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B304C5-FDB8-4E90-ADF6-438392A1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49758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>
              <a:alpha val="40000"/>
            </a:srgbClr>
          </a:solidFill>
          <a:ln xmlns:a="http://schemas.openxmlformats.org/drawingml/2006/main" w="9525">
            <a:solidFill>
              <a:srgbClr val="D83A2E">
                <a:alpha val="60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472D4E-63C8-4759-B24F-7740B534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815" y="3431858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疑似火点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置信度 86%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8BBB67-9832-4311-8AD2-32E1CD3D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9135" y="3081338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65588C-3192-4858-8F93-C9D7EAC9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965" y="305943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F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F7FF"/>
                </a:solidFill>
                <a:latin typeface="PingFang SC"/>
                <a:ea typeface="PingFang SC"/>
                <a:cs typeface="PingFang SC"/>
              </a:rPr>
              <a:t>M4T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276F5E-A0CC-4A37-96DC-231A3F2C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76450"/>
            <a:ext cx="361950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408F8D-B0F6-4A91-9EBD-D4994F23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812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9D8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F9D8F"/>
                </a:solidFill>
                <a:latin typeface="PingFang SC"/>
                <a:ea typeface="PingFang SC"/>
                <a:cs typeface="PingFang SC"/>
              </a:rPr>
              <a:t>火点坐标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1F11C2-EEC4-4C40-A4CD-1DB00E52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812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N 30.6412 / E 104.0817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9C9408-767F-40CE-B251-D8E96A3F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765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9D8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F9D8F"/>
                </a:solidFill>
                <a:latin typeface="PingFang SC"/>
                <a:ea typeface="PingFang SC"/>
                <a:cs typeface="PingFang SC"/>
              </a:rPr>
              <a:t>质量状态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00A9530-B982-48D2-A04D-6BE7837C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765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AUTO_WAYPOINT_READY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B29FEA-A97F-421D-982E-02B159C5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718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9D8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F9D8F"/>
                </a:solidFill>
                <a:latin typeface="PingFang SC"/>
                <a:ea typeface="PingFang SC"/>
                <a:cs typeface="PingFang SC"/>
              </a:rPr>
              <a:t>误差半径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8486050-E988-4156-A01E-2E86B24B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718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约 18m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320D711-F907-4940-A8AF-8C57C4B9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671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9D8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F9D8F"/>
                </a:solidFill>
                <a:latin typeface="PingFang SC"/>
                <a:ea typeface="PingFang SC"/>
                <a:cs typeface="PingFang SC"/>
              </a:rPr>
              <a:t>定位来源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E4FA319-B283-4FF4-A103-70F20453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671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OSD + 云台姿态 + DEM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0A80630-4C4D-44CB-AFDE-28BCDE51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624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9D8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F9D8F"/>
                </a:solidFill>
                <a:latin typeface="PingFang SC"/>
                <a:ea typeface="PingFang SC"/>
                <a:cs typeface="PingFang SC"/>
              </a:rPr>
              <a:t>处置建议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3562EED-EAF6-42FC-BB6C-1E08F68F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624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可生成复核航线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3506362-9621-4258-BE99-D411BB8F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UAVFire 智能无人机火情监测与快速处置系统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8384AE5-17E8-4C40-B08D-7F2AF372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3018953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4F8A23-751E-4A62-8D30-428480DC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F5F7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193FDC-2628-459D-A22F-B44A1BD2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C08A3-2EBF-4933-B919-749624E4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系统界面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D506F7-BC92-4650-ACA5-FF8FAB14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灭火任务：从事件一键转成可跟踪的执行单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F53CB-F72D-4DB1-A84B-937F340E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10287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F"/>
          </a:solidFill>
          <a:ln xmlns:a="http://schemas.openxmlformats.org/drawingml/2006/main" w="9525">
            <a:solidFill>
              <a:srgbClr val="C9D6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7DE49-54A9-4F89-99D3-7067390D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1028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8"/>
          </a:solidFill>
          <a:ln xmlns:a="http://schemas.openxmlformats.org/drawingml/2006/main" w="0">
            <a:solidFill>
              <a:srgbClr val="1323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D4C1A-C547-46D6-86E1-AFD91C8E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UAVFire 灭火任务列表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33AE52-80CD-42F8-B096-3F4A650D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4191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A3C"/>
          </a:solidFill>
          <a:ln xmlns:a="http://schemas.openxmlformats.org/drawingml/2006/main" w="0">
            <a:solidFill>
              <a:srgbClr val="1B2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20DD3-834C-4877-BEB5-0FCB703D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4955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49A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06F768-418B-4D48-AE7D-C7F644B2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8956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BC915C-A921-49A5-B112-6E1817FB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956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49A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A8F5B9-AF30-4B3D-8895-DA556BED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6957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49A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E48FC9-4C08-4CEC-ACDD-E659FD28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0957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49A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F4DDE9-1516-4E34-B5A6-002045C3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958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49A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8A4ADD-42F6-4A7C-BD11-86749349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717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9EA25D-DD69-41CA-8C85-610AE064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543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27084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627084"/>
                </a:solidFill>
                <a:latin typeface="PingFang SC"/>
                <a:ea typeface="PingFang SC"/>
                <a:cs typeface="PingFang SC"/>
              </a:rPr>
              <a:t>任务编号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72F77C-A56D-4A73-A368-C3001EB5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67000"/>
            <a:ext cx="1543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27084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627084"/>
                </a:solidFill>
                <a:latin typeface="PingFang SC"/>
                <a:ea typeface="PingFang SC"/>
                <a:cs typeface="PingFang SC"/>
              </a:rPr>
              <a:t>关联事件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44CB38-3AAA-4528-A5E0-69B93D3C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67000"/>
            <a:ext cx="1543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27084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627084"/>
                </a:solidFill>
                <a:latin typeface="PingFang SC"/>
                <a:ea typeface="PingFang SC"/>
                <a:cs typeface="PingFang SC"/>
              </a:rPr>
              <a:t>设备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1C474A-FDCC-41CE-8154-51FE1A3C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1543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27084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627084"/>
                </a:solidFill>
                <a:latin typeface="PingFang SC"/>
                <a:ea typeface="PingFang SC"/>
                <a:cs typeface="PingFang SC"/>
              </a:rPr>
              <a:t>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5F498D-2565-4428-B18B-2C323FCB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1543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27084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627084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248F36-2678-4CE8-A9C3-CC327767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956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A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E83422-E361-4274-A82D-6E560D16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0375"/>
            <a:ext cx="1543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MIS-001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CDD87F-64CA-49FF-B48A-6EC25EB7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00375"/>
            <a:ext cx="1543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FIRE-001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AA427C-307E-41FA-8721-2BF1B4B5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00375"/>
            <a:ext cx="1543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FC100-01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D8C5CF-0361-4986-A4F6-9D231217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0375"/>
            <a:ext cx="1543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待确认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A42660-12D9-4EAD-B359-74494AA4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0375"/>
            <a:ext cx="1543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生成航线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3721BC-2F85-495C-A41F-F32D5315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5755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A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840B51-56EF-4658-99B1-3BB75C7C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62325"/>
            <a:ext cx="1543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MIS-002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A5C536-141C-4832-97EE-08A179A4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62325"/>
            <a:ext cx="1543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FIRE-002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7E73B3-54E0-4FBE-9A02-5F9B68A8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62325"/>
            <a:ext cx="1543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M4T-02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6750C6-16B2-4142-8A89-AACDC8BB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62325"/>
            <a:ext cx="1543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执行中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3E463-D9ED-4F0D-90DB-066D1B73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62325"/>
            <a:ext cx="1543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现场复核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BD7751-D085-4CAE-A1C1-748B6086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195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A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D63E64-61C3-4D78-9A53-F9BA0692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24275"/>
            <a:ext cx="1543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MIS-003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79D140-E6D3-4679-90E5-B3CD6070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24275"/>
            <a:ext cx="1543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FIRE-003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4269DE-0DD1-43A7-AFA5-7692DE1C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24275"/>
            <a:ext cx="1543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FC100-02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777D3E-9BD8-4387-9992-85788D1E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24275"/>
            <a:ext cx="1543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已完成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D756C0-6583-490C-8511-0B32F780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24275"/>
            <a:ext cx="1543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投放成功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206452-E557-473C-8665-34C7E251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828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价值：指挥端看到的不再只是报警，而是“谁来处理、处理到哪一步、结果是什么”。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76C545-5958-4F9A-85A1-5FC50FB3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UAVFire 智能无人机火情监测与快速处置系统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A97F17-3CE5-4C71-B762-2E3586F2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7995606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4BBD46-1CF6-4205-9033-321F9E54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F5F7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2979C0-0E3E-46B1-97EF-2F91D81B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395E25-6996-4CB1-B69E-97C63088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系统界面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D2572-E685-45BD-983A-24E60871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航线预览：任务执行前先看路径、安全边界和动作点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AFC377-41F2-446E-BB90-FEA26603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723900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F"/>
          </a:solidFill>
          <a:ln xmlns:a="http://schemas.openxmlformats.org/drawingml/2006/main" w="9525">
            <a:solidFill>
              <a:srgbClr val="C9D6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1EDF8-8F61-4189-B9B7-FAE8C8B7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8"/>
          </a:solidFill>
          <a:ln xmlns:a="http://schemas.openxmlformats.org/drawingml/2006/main" w="0">
            <a:solidFill>
              <a:srgbClr val="1323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08F1F0-F201-4AC6-8C03-4F47AD7E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UAVFire 航线预览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C7CCF2-91D1-40E4-A339-DF4ECFB3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191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A3C"/>
          </a:solidFill>
          <a:ln xmlns:a="http://schemas.openxmlformats.org/drawingml/2006/main" w="0">
            <a:solidFill>
              <a:srgbClr val="1B2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3B974-D91E-4B7B-B9A1-58A265FC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193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49A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DDEEC5-55B1-4B29-8334-D69EC992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194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DF60AE-6E8E-4A3B-9B02-DC7CC194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194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49A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8CE12A-825B-4128-B043-4928D913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19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49A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563CE3-EDDD-4CE6-B034-73B7DD90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195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49A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B30DA6-A5AA-4A8F-AEAF-A76298E6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49A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03E991-DE7B-4BB6-A099-FA9B9D2A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81250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9525">
            <a:solidFill>
              <a:srgbClr val="36577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2801FD-3C18-4421-8247-3E8E75E8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575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F6524D-D4AD-484D-AD09-A6DF9A7D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891BC1-FEF0-44B7-AE03-D246A2DD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2004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DBA0C3-51D4-4613-9D42-52E899C1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9814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0F3CDF-9C80-473D-9868-3C46DBE9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5433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080FFC-E5E2-48C7-AD13-C94AF70F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719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8D2462-7A42-482D-8BCD-E6145E4F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575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D79403-0450-410D-BB9E-9544E359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62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7D76DB-7E34-4828-B07F-4764455E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004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AEA534-6A3C-4FCF-85AD-5BF240A9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910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43E88B-916B-4BD5-B794-0DEF6EE8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433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3ECA2E-B8E5-4958-AA1D-0CD33D7B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814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58A2F2-4840-44E4-8EBB-34C9B116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575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A9D159-D578-4213-8528-7971FEDD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719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FBAB47-BB59-4837-9853-B7D9ADBD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004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41B7FB-A872-47F2-BD18-507A6DC4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62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7CE865-37F7-4169-AA62-41C8E3B9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433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F89501-E4DE-414C-B711-FD878CBB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1910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7CE09D-AE53-4B44-83C9-288A5B6E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575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261D09-77B2-4FCE-B642-6BAE39F0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814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7D"/>
          </a:solidFill>
          <a:ln xmlns:a="http://schemas.openxmlformats.org/drawingml/2006/main" w="0">
            <a:solidFill>
              <a:srgbClr val="41617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096C2F-DA9A-4148-8729-1EA3A430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95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77348D-8D75-459A-80DB-1B71E5D3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47091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>
              <a:alpha val="40000"/>
            </a:srgbClr>
          </a:solidFill>
          <a:ln xmlns:a="http://schemas.openxmlformats.org/drawingml/2006/main" w="9525">
            <a:solidFill>
              <a:srgbClr val="D83A2E">
                <a:alpha val="60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7864A4-01C3-4623-A855-AA3851EB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9661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疑似火点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置信度 86%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C4B6B8-7319-4434-8203-02FB139A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003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F6CDE3-14C8-4211-B1A2-01D67170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7561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F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8F7FF"/>
                </a:solidFill>
                <a:latin typeface="PingFang SC"/>
                <a:ea typeface="PingFang SC"/>
                <a:cs typeface="PingFang SC"/>
              </a:rPr>
              <a:t>M4T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00E4B6-6639-4E4C-BA48-79C0A634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00500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EE5E57-3912-4C35-B7E0-792466AB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9087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8F7E6D-FEA8-40C1-8954-5209C333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90750"/>
            <a:ext cx="2476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E6D8FA5-4484-42DE-861E-A4CD8BBF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47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518845-4E39-4192-820D-BF735F22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复核航线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4CD4A8-0249-459C-B50A-65B75FD6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81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C2EC85-A96D-4CF8-8E45-5C02D40F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抛投动作点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A5D47C5-989C-4772-91BF-E440F9C6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14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39687B3-A1AB-4167-BC24-76A4F787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385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安全高度/返航点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6A5D5F6-455F-49C9-8781-85379E50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48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B4C6867-9E50-4AD4-A709-5DCA7E08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719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KMZ 导入与管理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8207C73-17B3-46DD-B852-A31A2754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UAVFire 智能无人机火情监测与快速处置系统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BCDF2EF-632D-4319-A710-2BB14FF8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2521753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F859C8-AABC-4DE7-A57C-59A25038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F5F7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F9C9A-C6E0-451D-BD43-377D3530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903FD-42D2-47F0-8465-6B33F491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系统界面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D66BA-075C-44D4-9A8D-99FF4356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载荷投放：关键动作有确认、有回执、有记录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81285B-889D-4945-924F-EF54B465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F"/>
          </a:solidFill>
          <a:ln xmlns:a="http://schemas.openxmlformats.org/drawingml/2006/main" w="9525">
            <a:solidFill>
              <a:srgbClr val="C9D6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1E924-81BD-4F8C-A70D-90E7878E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666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8"/>
          </a:solidFill>
          <a:ln xmlns:a="http://schemas.openxmlformats.org/drawingml/2006/main" w="0">
            <a:solidFill>
              <a:srgbClr val="1323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B87C0A-6027-4210-855C-44D9949F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UAVFire 投放执行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049826-5D6E-4DCF-94A3-C2FAA214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4191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A3C"/>
          </a:solidFill>
          <a:ln xmlns:a="http://schemas.openxmlformats.org/drawingml/2006/main" w="0">
            <a:solidFill>
              <a:srgbClr val="1B2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0A629-9301-47A1-AE1F-A2CFB0D4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384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49A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7A7803-2808-4DFD-A0F8-7E4BB167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384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9A9F2E-92BD-4300-B6E5-12CE9ED3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38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49A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24B622-1CA5-485D-A587-D0E527B6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49A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DDE7AE-3648-42C4-9959-519BC1CC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386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49A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FCDD4D-6F7D-4A5F-AC39-61B7EE2E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386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49A"/>
          </a:solidFill>
          <a:ln xmlns:a="http://schemas.openxmlformats.org/drawingml/2006/main" w="0">
            <a:solidFill>
              <a:srgbClr val="72849A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1492b98c6945c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14450" y="240030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D32B1F-8602-4D83-9663-1FCCF873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9550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4AC000-8922-4932-826E-88ED64E2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765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8C2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28C28"/>
                </a:solidFill>
                <a:latin typeface="PingFang SC"/>
                <a:ea typeface="PingFang SC"/>
                <a:cs typeface="PingFang SC"/>
              </a:rPr>
              <a:t>任务状态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232908-396E-4519-BE28-9CAA67D8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765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PAYLOAD_READY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F5382F-149C-4174-AA05-9C8AD1CB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0861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8C2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28C28"/>
                </a:solidFill>
                <a:latin typeface="PingFang SC"/>
                <a:ea typeface="PingFang SC"/>
                <a:cs typeface="PingFang SC"/>
              </a:rPr>
              <a:t>安全确认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1B9B70-6370-414D-BDB8-5D16AD98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861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飞行高度/距离已校验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960A34-A856-46FE-AFEB-08EC4A68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957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8C2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28C28"/>
                </a:solidFill>
                <a:latin typeface="PingFang SC"/>
                <a:ea typeface="PingFang SC"/>
                <a:cs typeface="PingFang SC"/>
              </a:rPr>
              <a:t>执行动作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AF801E-E649-4717-8846-5BE48864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957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PAYLOAD_RELEASED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D33C04-6852-4A14-A985-A39629EB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3053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8C2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28C28"/>
                </a:solidFill>
                <a:latin typeface="PingFang SC"/>
                <a:ea typeface="PingFang SC"/>
                <a:cs typeface="PingFang SC"/>
              </a:rPr>
              <a:t>结果回传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BF2A85-0168-43FA-829D-CB261D6E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053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截图 + 坐标 + 时间戳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613EAF-3F1F-4AB9-AEE2-AE795A4F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UAVFire 智能无人机火情监测与快速处置系统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3E506C-8743-4AED-B37C-3EEAB00B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6015045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C05C6E-E7F0-490A-95C6-3A2EF150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F5F7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C20A5-A51F-4C45-AE25-9FB504F4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F"/>
          </a:solidFill>
          <a:ln xmlns:a="http://schemas.openxmlformats.org/drawingml/2006/main" w="0">
            <a:solidFill>
              <a:srgbClr val="0F9D8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741D01-3227-4E5D-9007-9F03E177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系统界面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588D6-6E77-43FB-BCFA-9EBD7D9C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RC Plus 执行端：让现场无人机接入指挥系统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7084f8f614549"/>
          <a:srcRect xmlns:a="http://schemas.openxmlformats.org/drawingml/2006/main" l="57" t="0" r="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809750"/>
            <a:ext cx="6667500" cy="4171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A4BC7-A156-4001-BE1D-406D4258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71700"/>
            <a:ext cx="30289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55BA9-8945-4299-BE7B-B7C3152A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CB8C2-DA69-4F31-A07E-6ADA2C7E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启动飞行界面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5588BE-D7C1-4908-BEC0-DE46AC8E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81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86277-28C3-4DF2-9175-CA7CF183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设备状态和心跳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8E100A-37C4-48F2-A8DB-D66861A1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14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B0B045-7E26-450C-B7BC-E668DA70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385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直播推流与焦点切换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D5E0B5-86EB-4779-8E3C-AFC716EE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48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2EE9C4-880F-441B-816B-42EB48ED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719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OSD/HMS/任务事件回传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A8BA11-9F28-4D49-A0D6-B33CA31F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UAVFire 智能无人机火情监测与快速处置系统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1AB77E-9E1E-4CED-A111-DDE09403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795405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2AFA1A-8EDF-4074-AF48-62B2A83F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F5F7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2F7D2C-5667-4E55-8816-39C97B95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6D6F4D-3ABD-4568-B254-12829E44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系统界面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48298-3B10-474B-BA07-4595088D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航线与 KMZ 能力入口：对接 DJI 生态的任务准备流程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DF5C7-5D50-41EA-BB57-757FDDE2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24050"/>
            <a:ext cx="1809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A"/>
          </a:solidFill>
          <a:ln xmlns:a="http://schemas.openxmlformats.org/drawingml/2006/main" w="9525">
            <a:solidFill>
              <a:srgbClr val="1E88E5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cbef9109784bb2"/>
          <a:srcRect xmlns:a="http://schemas.openxmlformats.org/drawingml/2006/main" l="2381" t="0" r="23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2095500"/>
            <a:ext cx="14287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EDF92-6A20-4F12-8585-76FED57F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434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航线规划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F4DF0-249B-4B02-B127-DA1B6B5C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863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EE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EE7FF"/>
                </a:solidFill>
                <a:latin typeface="PingFang SC"/>
                <a:ea typeface="PingFang SC"/>
                <a:cs typeface="PingFang SC"/>
              </a:rPr>
              <a:t>现场端能力入口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F20D9D-3BEF-4E49-A84C-4879F7F4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924050"/>
            <a:ext cx="1809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A"/>
          </a:solidFill>
          <a:ln xmlns:a="http://schemas.openxmlformats.org/drawingml/2006/main" w="9525">
            <a:solidFill>
              <a:srgbClr val="1E88E5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91349326c0492c"/>
          <a:srcRect xmlns:a="http://schemas.openxmlformats.org/drawingml/2006/main" l="2381" t="0" r="23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38625" y="2095500"/>
            <a:ext cx="1428750" cy="2000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9926B5-A65C-4C78-A450-591790B6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3434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KMZ同步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62D08E-DE05-4B22-9C24-0D0BDC4A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6863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EE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EE7FF"/>
                </a:solidFill>
                <a:latin typeface="PingFang SC"/>
                <a:ea typeface="PingFang SC"/>
                <a:cs typeface="PingFang SC"/>
              </a:rPr>
              <a:t>现场端能力入口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59EEAB-41FF-4364-B56B-5E11FF7A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924050"/>
            <a:ext cx="1809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A"/>
          </a:solidFill>
          <a:ln xmlns:a="http://schemas.openxmlformats.org/drawingml/2006/main" w="9525">
            <a:solidFill>
              <a:srgbClr val="1E88E5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6d1bab1cf04eab"/>
          <a:srcRect xmlns:a="http://schemas.openxmlformats.org/drawingml/2006/main" l="2381" t="0" r="23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96125" y="2095500"/>
            <a:ext cx="1428750" cy="20002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33FBE3-D123-4B84-B384-AA1D0A65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434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航线管理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853584-075B-450E-99D7-AA386631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6863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EE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EE7FF"/>
                </a:solidFill>
                <a:latin typeface="PingFang SC"/>
                <a:ea typeface="PingFang SC"/>
                <a:cs typeface="PingFang SC"/>
              </a:rPr>
              <a:t>现场端能力入口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84C1CC-558E-4138-88F3-D9AE676F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UAVFire 智能无人机火情监测与快速处置系统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74B29C-DD84-423B-8CB8-D2206249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5656401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D62B72-F03A-4574-97BB-F171977E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F5F7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E94BE-A19D-4AFA-87B0-F33F142F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DE8D1-F45F-44C7-A148-B89FD342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设备生态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D8E20D-8DBA-4620-B6D0-D4BCDF1E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轻型侦察与大载重灭火可以分层协同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B25EB-6748-456C-8408-B1986FF4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30480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FF1B38-B7D2-4E51-A0C4-5BD1CF01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762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3E741-68EB-4404-9992-B8B38A5B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71725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6FD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F6FDB"/>
                </a:solidFill>
                <a:latin typeface="PingFang SC"/>
                <a:ea typeface="PingFang SC"/>
                <a:cs typeface="PingFang SC"/>
              </a:rPr>
              <a:t>Matrice 4T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B78AFD-1B28-4042-90CE-455E7B26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71775"/>
            <a:ext cx="25908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适合应急响应、公共安全和林业保护等场景；多传感器、激光测距和智能检测能力适合火情巡护与复核。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2E2906-ACB9-4241-9980-DFE67981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43125"/>
            <a:ext cx="30480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5E0392-6FB6-4416-9853-3461D7B4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43125"/>
            <a:ext cx="762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0C1B5C-7888-4C4E-A12C-C29EE6AF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71725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8C2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28C28"/>
                </a:solidFill>
                <a:latin typeface="PingFang SC"/>
                <a:ea typeface="PingFang SC"/>
                <a:cs typeface="PingFang SC"/>
              </a:rPr>
              <a:t>FlyCart 100 / FC100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EE8F1C-16BF-4846-BC9C-D4D34DA6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71775"/>
            <a:ext cx="25908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大疆官方资料显示，FC100 具备双电最大载荷 85kg、绞盘系统、激光雷达/视觉/毫米波雷达等能力。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9821F7-797D-4008-B13E-3FF0C8BF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30480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68F116-AC63-47F9-913B-9CFB8A0C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762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F"/>
          </a:solidFill>
          <a:ln xmlns:a="http://schemas.openxmlformats.org/drawingml/2006/main" w="0">
            <a:solidFill>
              <a:srgbClr val="0F9D8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B51A3E-C732-4E98-AF2F-23AFD91E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71725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9D8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F9D8F"/>
                </a:solidFill>
                <a:latin typeface="PingFang SC"/>
                <a:ea typeface="PingFang SC"/>
                <a:cs typeface="PingFang SC"/>
              </a:rPr>
              <a:t>UAVFire 平台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6316D5-7559-4716-ACC2-AF52D097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71775"/>
            <a:ext cx="25908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把设备能力接入消防业务：视频、AI、事件、航线、任务、投放、回传和复盘统一管理。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CD593C-BF99-4F98-8BA1-EE4FD1E4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资料：应急管理部/国家消防救援局/大疆官方公开资料，结合 UAVFire 当前项目模块整理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04C663-9487-43CF-B4DD-66EFBE86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78810577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D6B757-4873-4AA2-90D4-36073536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F5F7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B40B2-7B57-42D0-ABE4-50F14218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A"/>
          </a:solidFill>
          <a:ln xmlns:a="http://schemas.openxmlformats.org/drawingml/2006/main" w="0">
            <a:solidFill>
              <a:srgbClr val="0B17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E7C58-ADDE-4309-B7D2-FA424029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部署拓扑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DB381-8AEC-48E3-BB22-1C38557F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现场端、媒体端、AI端和指挥端分层部署，便于试点落地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431DD5-70BA-4AA4-A5FD-4A6022C7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571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14C3D8-9366-4D4C-B9FA-3EB6BEA3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5716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954389-DA83-47D5-86BE-B410B248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无人机/RC Plus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0326E-9605-465E-878E-D68F3FFA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627084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27084"/>
                </a:solidFill>
                <a:latin typeface="PingFang SC"/>
                <a:ea typeface="PingFang SC"/>
                <a:cs typeface="PingFang SC"/>
              </a:rPr>
              <a:t>视频推流、遥测、任务回执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C0F664-118C-471F-94DC-AD94506A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1242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0D5"/>
          </a:solidFill>
          <a:ln xmlns:a="http://schemas.openxmlformats.org/drawingml/2006/main" w="0">
            <a:solidFill>
              <a:srgbClr val="AFC0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D070DD-CE51-4220-8FBB-1341CC02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71750"/>
            <a:ext cx="1571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4857C6-3F9A-4C8D-A449-4E120275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71750"/>
            <a:ext cx="15716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022026-016D-46DC-8826-6B9BF72E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575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媒体中枢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DD3289-D3D7-4E34-9D4A-2991B88D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575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627084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27084"/>
                </a:solidFill>
                <a:latin typeface="PingFang SC"/>
                <a:ea typeface="PingFang SC"/>
                <a:cs typeface="PingFang SC"/>
              </a:rPr>
              <a:t>RTMP / RTSP / WebRTC 转发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9FD34C-8FC2-4488-8380-AA037CFE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242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0D5"/>
          </a:solidFill>
          <a:ln xmlns:a="http://schemas.openxmlformats.org/drawingml/2006/main" w="0">
            <a:solidFill>
              <a:srgbClr val="AFC0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629331-990C-4DA9-B9D2-68FD30C1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71750"/>
            <a:ext cx="1571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FF6803-5644-408A-BBCD-AE4C4A94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71750"/>
            <a:ext cx="15716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A64A5F-0314-40C7-8B40-F3BCD78B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575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AI服务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39BB0A-292B-41B6-B534-7FA155A3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575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627084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27084"/>
                </a:solidFill>
                <a:latin typeface="PingFang SC"/>
                <a:ea typeface="PingFang SC"/>
                <a:cs typeface="PingFang SC"/>
              </a:rPr>
              <a:t>火点检测、热源分析、事件上报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0ADB4E-CA98-4B47-B49F-64E9FB95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0D5"/>
          </a:solidFill>
          <a:ln xmlns:a="http://schemas.openxmlformats.org/drawingml/2006/main" w="0">
            <a:solidFill>
              <a:srgbClr val="AFC0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90BD13-0771-4214-A927-9BA40385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1571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B2399F-278D-40BC-A9D1-21010BBB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15716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F"/>
          </a:solidFill>
          <a:ln xmlns:a="http://schemas.openxmlformats.org/drawingml/2006/main" w="0">
            <a:solidFill>
              <a:srgbClr val="0F9D8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94C688-2074-42AE-8992-AEFEFB27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575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UAVFire后端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8991C2-67A1-40B8-9DCF-03746ADD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575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627084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27084"/>
                </a:solidFill>
                <a:latin typeface="PingFang SC"/>
                <a:ea typeface="PingFang SC"/>
                <a:cs typeface="PingFang SC"/>
              </a:rPr>
              <a:t>事件库、任务编排、指令队列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F1A7B9-09B0-4333-8837-C0C276C3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242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0D5"/>
          </a:solidFill>
          <a:ln xmlns:a="http://schemas.openxmlformats.org/drawingml/2006/main" w="0">
            <a:solidFill>
              <a:srgbClr val="AFC0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6ED8B9-1770-446B-A3B7-28B0AA32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71750"/>
            <a:ext cx="1571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8F3C82-357D-4120-B382-E64F4A1D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71750"/>
            <a:ext cx="15716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520FEE-F003-4244-A46C-087B8AF2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575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指挥大屏/PC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41665F-B9AE-4E57-8B97-413CFF4A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575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627084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27084"/>
                </a:solidFill>
                <a:latin typeface="PingFang SC"/>
                <a:ea typeface="PingFang SC"/>
                <a:cs typeface="PingFang SC"/>
              </a:rPr>
              <a:t>态势展示、任务派发、复盘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ED9C1D-068D-4F34-AABD-0003B4FA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试点建议：先用一条真实设备链路跑通，再逐步接入更多无人机、固定监控和消防指挥平台。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5A92EB-4C68-42F8-A210-31C8FB3C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UAVFire 智能无人机火情监测与快速处置系统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D60A7D-D83B-48CE-BB20-BDC5AC80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55522239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B578A9-9F94-402C-AD82-20D60DAA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F5F7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FDC69-3FCA-4428-BE10-85D419BB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9DC5F-1AAE-404F-82E9-30E428C9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差异化卖点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66CE1E-7C30-402F-9F80-E1830D01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我们卖的是“消防处置闭环”，不是单独卖无人机或算法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FA7457-CBEF-4E70-9633-825D3D97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2952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F7591-0670-4B93-A4DD-EDE7A87E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72BA18-6B02-416E-8F5C-2BF121E1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2410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业务闭环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106A25-B513-4DD8-89A1-5B059A46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24150"/>
            <a:ext cx="24955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事件、坐标、任务、执行、投放、复盘全链路贯通，符合消防部门的工作流。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8FE973-FA53-43B9-BDDE-A4C7F99D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95500"/>
            <a:ext cx="2952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556BBD-C595-4817-9CAA-F036630F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9550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2518CE-BD5C-44F1-A993-B73C5B6C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2410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6FD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F6FDB"/>
                </a:solidFill>
                <a:latin typeface="PingFang SC"/>
                <a:ea typeface="PingFang SC"/>
                <a:cs typeface="PingFang SC"/>
              </a:rPr>
              <a:t>真实设备链路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D96DDC-EFCC-4CFC-884D-22C8ADC4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24150"/>
            <a:ext cx="24955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前端、后端、AI服务、媒体服务、RC Plus Agent 都有工程边界，可现场联调。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86E719-37D5-4D43-9291-3D4A5083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95500"/>
            <a:ext cx="2952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4F8694-0924-408E-A679-5C73EB1C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9550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F"/>
          </a:solidFill>
          <a:ln xmlns:a="http://schemas.openxmlformats.org/drawingml/2006/main" w="0">
            <a:solidFill>
              <a:srgbClr val="0F9D8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9906E7-7251-4C65-ACA5-F57549EA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2410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9D8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F9D8F"/>
                </a:solidFill>
                <a:latin typeface="PingFang SC"/>
                <a:ea typeface="PingFang SC"/>
                <a:cs typeface="PingFang SC"/>
              </a:rPr>
              <a:t>可分阶段交付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F606E-558B-453D-A00F-3112E33A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24150"/>
            <a:ext cx="24955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从单机试点到多机协同，从本地部署到平台接入，不要求客户一次性重构体系。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83C475-DFCD-4C50-B568-23C4F0EF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UAVFire 智能无人机火情监测与快速处置系统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710885-92A2-4543-A649-81AABCC9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2890076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23AA30-F85C-4C6F-9AF0-2FDE2C8F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F5F7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654A74-EA2E-4DF4-A35D-E3E7C9CB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C3080-EB98-4CF0-BE74-1F4E68EB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试点计划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3F5588-893F-412E-B588-35FEED50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建议用 4 周完成一次消防场景闭环验证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F9E134-16D6-447C-96F7-70C254AB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3336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AACBEA-128B-4E11-BB90-DA62D5A9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A4FFC1-3367-49D3-95B3-FBA93038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第1周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21590-3B28-456F-BAF3-193797AD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场景确认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778F58-5F71-42D0-B480-2B2DF7FE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8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27084"/>
                </a:solidFill>
                <a:latin typeface="PingFang SC"/>
                <a:ea typeface="PingFang SC"/>
                <a:cs typeface="PingFang SC"/>
              </a:rPr>
              <a:t>选择林区/园区试点点位，明确设备、网络、演示流程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E5492D-A159-4566-9945-BFAF3702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90750"/>
            <a:ext cx="23336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ED7132-9813-437B-8B61-9F2A5EF2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765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080FAE-1F8C-49E0-AF99-BA6C65AB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7175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第2周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4CF0AD-CC18-448C-9419-831A8C9D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242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链路联调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04F191-5498-4009-A3DE-EB2EBB15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6004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8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27084"/>
                </a:solidFill>
                <a:latin typeface="PingFang SC"/>
                <a:ea typeface="PingFang SC"/>
                <a:cs typeface="PingFang SC"/>
              </a:rPr>
              <a:t>无人机推流、AI识别、事件上报、驾驶舱展示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EE649E-86B8-4516-AA02-559787CD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90750"/>
            <a:ext cx="23336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E71DDE-2918-4CD9-9A75-BF969C3E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5C030C-DD06-445B-A6C7-2A5BD015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第3周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477854-80E8-4477-8664-D4E2D6B7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242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任务闭环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DC263B-83E8-40A4-A219-765DFD0D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04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8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27084"/>
                </a:solidFill>
                <a:latin typeface="PingFang SC"/>
                <a:ea typeface="PingFang SC"/>
                <a:cs typeface="PingFang SC"/>
              </a:rPr>
              <a:t>火情事件转任务，航线预览，RC Plus 端接收与回传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12311B-DBBC-4A0F-87D8-A9F62E4F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90750"/>
            <a:ext cx="23336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A1DB72-2B88-42C0-B840-212A0E4B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765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F"/>
          </a:solidFill>
          <a:ln xmlns:a="http://schemas.openxmlformats.org/drawingml/2006/main" w="0">
            <a:solidFill>
              <a:srgbClr val="0F9D8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CDE435-C16D-45E3-876B-1B36BF04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7175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第4周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C9FF47-F8BC-4ED0-BCDC-E0475193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242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演示验收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352DB1-F8A0-4705-92BF-0660F94B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004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8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27084"/>
                </a:solidFill>
                <a:latin typeface="PingFang SC"/>
                <a:ea typeface="PingFang SC"/>
                <a:cs typeface="PingFang SC"/>
              </a:rPr>
              <a:t>形成演示脚本、试点报告、后续部署清单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6BF45F-0161-4724-9C8C-75F9F165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UAVFire 智能无人机火情监测与快速处置系统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B1E2D5-D628-4D0F-A598-A6BE4FBA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84328554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81CAA3-867B-416F-B6DF-E4CADCD8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F5F7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7D35B-FE3E-45D6-AB63-BDDCE58E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4226E-F128-48A5-8A13-46B4A23F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客户收益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4167E7-F9CE-4408-A0D0-0A25C605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试点成功后，消防部门能拿到四类直接成果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1A1F3-229C-4975-8ABB-4B3FBA78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4572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198EC-C7D4-4E65-8093-27CDFC79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762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65649F-F368-48B4-9B86-C1853049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24100"/>
            <a:ext cx="411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6FD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F6FDB"/>
                </a:solidFill>
                <a:latin typeface="PingFang SC"/>
                <a:ea typeface="PingFang SC"/>
                <a:cs typeface="PingFang SC"/>
              </a:rPr>
              <a:t>一套可演示系统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B89F73-827B-48B3-BCA5-63DAA80F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24150"/>
            <a:ext cx="4114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指挥驾驶舱、AI识别、事件库、任务派发、RC Plus 现场端。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9C135-6C49-40B9-A199-755C15D7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95500"/>
            <a:ext cx="4572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BF901-377E-4DC7-9DC0-EB6C370B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95500"/>
            <a:ext cx="762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E91A51-46A9-42B4-A1C4-EED2817C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24100"/>
            <a:ext cx="411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一条真实作战链路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EDCE5F-5798-421E-B6FC-50CE55DD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24150"/>
            <a:ext cx="4114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无人机视频 → AI研判 → 火情事件 → 航线/任务 → 执行回传。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1194C0-7488-4697-A551-D41304B5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57625"/>
            <a:ext cx="4572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545687-3B77-4D98-B6C5-D21096AA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57625"/>
            <a:ext cx="762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E092DE-78FA-4CE4-A992-70CBB964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86225"/>
            <a:ext cx="411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8C2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28C28"/>
                </a:solidFill>
                <a:latin typeface="PingFang SC"/>
                <a:ea typeface="PingFang SC"/>
                <a:cs typeface="PingFang SC"/>
              </a:rPr>
              <a:t>一份部署清单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D035A7-3DC5-45FC-8908-E126B205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86275"/>
            <a:ext cx="4114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设备、网络、服务器、账号、数据接口和现场 SOP。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D20646-013F-480A-82D6-BF2B56A3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57625"/>
            <a:ext cx="4572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27B506-B9A0-485B-A94A-17D01A34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57625"/>
            <a:ext cx="762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F"/>
          </a:solidFill>
          <a:ln xmlns:a="http://schemas.openxmlformats.org/drawingml/2006/main" w="0">
            <a:solidFill>
              <a:srgbClr val="0F9D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E97BF4-AF5A-40BA-8F3D-6A6F3A76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86225"/>
            <a:ext cx="411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9D8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F9D8F"/>
                </a:solidFill>
                <a:latin typeface="PingFang SC"/>
                <a:ea typeface="PingFang SC"/>
                <a:cs typeface="PingFang SC"/>
              </a:rPr>
              <a:t>一套推广路径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0B495B-A1C8-4E39-BE4C-142B9161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86275"/>
            <a:ext cx="4114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从重点点位试点，逐步扩展到多点巡护、多机协同和平台接入。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C93E26-7F39-428D-8E0F-879958B7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UAVFire 智能无人机火情监测与快速处置系统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ECF9F9-9F11-4837-9EB2-D0348EBB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762321592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40F69C-4EF3-45D6-B97C-4DE6D0EA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F5F7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946C76-258C-4A02-ADB1-A369A4AF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A"/>
          </a:solidFill>
          <a:ln xmlns:a="http://schemas.openxmlformats.org/drawingml/2006/main" w="0">
            <a:solidFill>
              <a:srgbClr val="0B17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DBB80-B3A1-4AB1-AFA5-4C240FEB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公开资料支撑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3140E-0172-423A-A4D2-3FE2A968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方案方向与消防科技趋势、无人机设备能力一致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3A6E9-4975-46FA-8ABD-B2475A4A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1028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14D870-C84A-4BF0-B841-5ADA3F77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应急管理部/消防救援公开发布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306C3-0C46-4D08-88D9-B9A17D24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66950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强调监测预警、航空救援、基础设施建设、空地一体等战法创新。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2AE0AE-294C-4F9A-A5AB-0295CC21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1028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23814-A232-4581-8C49-3D413F68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FD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F6FDB"/>
                </a:solidFill>
                <a:latin typeface="PingFang SC"/>
                <a:ea typeface="PingFang SC"/>
                <a:cs typeface="PingFang SC"/>
              </a:rPr>
              <a:t>国家消防救援局科技计划指南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DB270-CB02-48CB-B339-08FC7656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48000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无人机、AI、集群控制、精准作业、侦察灭火救援全流程智能化。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1D734E-CAB9-4109-8533-F85BEB68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1028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886C37-8792-47B9-8023-C11F35A0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9D8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F9D8F"/>
                </a:solidFill>
                <a:latin typeface="PingFang SC"/>
                <a:ea typeface="PingFang SC"/>
                <a:cs typeface="PingFang SC"/>
              </a:rPr>
              <a:t>DJI Matrice 4 Series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C654D2-EC7D-46CC-A13C-F9BC95D7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29050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Matrice 4T 面向应急响应、公共安全、林业保护等行业。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921C44-15C2-41E7-B122-108D7E52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1028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CFEEFD-7046-4607-9231-EC29B52B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01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8C2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28C28"/>
                </a:solidFill>
                <a:latin typeface="PingFang SC"/>
                <a:ea typeface="PingFang SC"/>
                <a:cs typeface="PingFang SC"/>
              </a:rPr>
              <a:t>DJI FlyCart 100 / FC100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351CDA-AB0B-49D1-8301-56442E2E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10100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大载重、绞盘、感知避障与一站式软件生态，适合复杂场景运输/投送。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C0FAA6-C868-4512-9D54-6C4722EB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资料来源详见交付说明中的链接。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5199FF-FDFF-44F0-82C6-38522F7E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B8797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81404938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7e35f987914c7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AC037-1D87-4DDD-8CF7-7CF13F18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F">
              <a:alpha val="80000"/>
            </a:srgbClr>
          </a:solidFill>
          <a:ln xmlns:a="http://schemas.openxmlformats.org/drawingml/2006/main" w="0">
            <a:solidFill>
              <a:srgbClr val="06101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91A4C-393B-4944-9703-479F84A9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下一步：组织一次真实设备联调演示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1CC69-EE61-4CED-80AC-71AD86A8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552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CE6F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DCE6F2"/>
                </a:solidFill>
                <a:latin typeface="PingFang SC"/>
                <a:ea typeface="PingFang SC"/>
                <a:cs typeface="PingFang SC"/>
              </a:rPr>
              <a:t>用一个典型火点场景，现场验证无人机推流、AI识别、火情事件、任务派发、执行回传与复盘材料生成。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E09231-439C-4C64-B37B-E9318264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560E8-2773-46B4-8716-C126AE87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1477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现场演示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01189C-B7B3-4B6D-9FC4-454EC5F9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8481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7D512-BBC4-4DDE-9013-DF20A5F1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91477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试点部署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E2AE45-7AFE-4B39-9CF9-756FF659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481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F"/>
          </a:solidFill>
          <a:ln xmlns:a="http://schemas.openxmlformats.org/drawingml/2006/main" w="0">
            <a:solidFill>
              <a:srgbClr val="0F9D8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98A7E8-44C1-41B2-B40C-93204CDB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1477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平台接入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451488-123F-49B0-903D-83DD2338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626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AC7D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BAC7D7"/>
                </a:solidFill>
                <a:latin typeface="PingFang SC"/>
                <a:ea typeface="PingFang SC"/>
                <a:cs typeface="PingFang SC"/>
              </a:rPr>
              <a:t>UAVFire 智能无人机消防解决方案</a:t>
            </a:r>
          </a:p>
        </p:txBody>
      </p:sp>
    </p:spTree>
    <p:extLst>
      <p:ext uri="{BB962C8B-B14F-4D97-AF65-F5344CB8AC3E}">
        <p14:creationId xmlns:p14="http://schemas.microsoft.com/office/powerpoint/2010/main" val="20412825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2026-06-10T08:10:52.5830000Z</dcterms:created>
  <dcterms:modified xsi:type="dcterms:W3CDTF">2026-06-10T08:10:52.5840000Z</dcterms:modified>
</coreProperties>
</file>