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tags" Target="../tags/tag1.xml"/><Relationship Id="rId2" Type="http://schemas.openxmlformats.org/officeDocument/2006/relationships/image" Target="../media/image4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6144768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101C33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227064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产品推介 · 2026  |  实机系统界面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行业背景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防火，难在「早发现、快处置」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火情发现越晚，扑救代价呈指数级上升 —— 传统手段正面临四大瓶颈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5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🔭  发现难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679191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人工瞭望塔与地面巡山覆盖范围有限、盲区多，偏远林区初期火点极易错过最佳处置窗口。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5351" y="196596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1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1" y="2185415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🌫  看不清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1" y="2679191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浓烟、夜间、逆光环境下，单一可见光手段难以确认火情真伪与蔓延态势，误报漏报并存。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411480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40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33425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📍  定位慢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依赖目视估算与口头上报，火点位置模糊，地面力量往往「找火」比「灭火」耗时更长。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5351" y="411480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1" y="434340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1" y="433425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⚠️  处置险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9671" y="4828032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山区地形复杂，扑救人员抵达慢、作业风险高，初期小火常因处置不及时酿成大灾。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解决方案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从发现到扑灭，一个平台全闭环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无人机自动巡航 + AI 实时识别 + 精准定位 + 指挥审批 + 灭火弹投放，六步形成完整处置闭环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6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自动巡航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按预设航线全自动巡查林区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14016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40"/>
              </a:spcAft>
            </a:pPr>
            <a:r>
              <a:rPr sz="2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334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334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识别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14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机载画面实时烟火检测告警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42816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40"/>
              </a:spcAft>
            </a:pPr>
            <a:r>
              <a:rPr sz="2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622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6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622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热成像确认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02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红外测温复核，排除误报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71616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40"/>
              </a:spcAft>
            </a:pPr>
            <a:r>
              <a:rPr sz="2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910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6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910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火点定位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90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画面目标解算为地理坐标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00415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40"/>
              </a:spcAft>
            </a:pPr>
            <a:r>
              <a:rPr sz="2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198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26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198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指挥决策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478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大屏研判，一键审批处置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729216" y="3154680"/>
            <a:ext cx="29260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840"/>
              </a:spcAft>
            </a:pPr>
            <a:r>
              <a:rPr sz="24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24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948672" y="2240280"/>
            <a:ext cx="1664208" cy="22860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8672" y="2468880"/>
            <a:ext cx="1664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910"/>
              </a:spcAft>
            </a:pPr>
            <a:r>
              <a:rPr sz="26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26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48672" y="3108960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60"/>
              </a:spcAft>
            </a:pPr>
            <a:r>
              <a:rPr sz="16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精准投放</a:t>
            </a:r>
            <a:endParaRPr sz="16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76688" y="3566160"/>
            <a:ext cx="140817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灭火弹自动飞抵定点投放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4672" y="4937760"/>
            <a:ext cx="10607040" cy="1051560"/>
          </a:xfrm>
          <a:prstGeom prst="roundRect">
            <a:avLst>
              <a:gd name="adj" fmla="val 1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13892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25"/>
              </a:spcAft>
            </a:pPr>
            <a:r>
              <a:rPr sz="15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全流程在线、留痕、可追溯 —— 发现即定位、定位即决策、决策即处置，把「黄金扑救期」牢牢握在手中。</a:t>
            </a:r>
            <a:endParaRPr sz="15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系统架构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四端协同，一体化作战体系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基于大疆行业级无人机生态构建，云端 + 机载端深度联动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3223260" cy="18288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3716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5"/>
            <a:ext cx="27203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🖥  指挥驾驶舱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679191"/>
            <a:ext cx="27203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面向指挥员的一屏总览：实时视频、火情事件、航线进度、态势地图，支持全屏大屏模式。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02252" y="1965960"/>
            <a:ext cx="3223260" cy="18288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2252" y="2194560"/>
            <a:ext cx="45720" cy="13716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6572" y="2185415"/>
            <a:ext cx="27203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☁️  业务指挥平台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6572" y="2679191"/>
            <a:ext cx="27203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任务、航线、设备、审批、媒体统一中枢，负责航线下发、指令调度与全程数据留痕。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4069079"/>
            <a:ext cx="3223260" cy="18288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297679"/>
            <a:ext cx="45720" cy="13716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288536"/>
            <a:ext cx="27203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🧠  AI 火情识别引擎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" y="4782312"/>
            <a:ext cx="27203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持续分析直播视频流，烟火检测、风险分级、事件上报，7×24 小时在线值守。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02252" y="4069079"/>
            <a:ext cx="3223260" cy="182880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2252" y="4297679"/>
            <a:ext cx="45720" cy="13716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6572" y="4288536"/>
            <a:ext cx="27203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5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📡  机载智控终端</a:t>
            </a:r>
            <a:endParaRPr sz="15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6572" y="4782312"/>
            <a:ext cx="2720339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运行于大疆遥控器：视频推流、红外热成像、飞控指令执行、灭火弹脱钩，遥测实时回传。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4" name="Picture 23" descr="msdk-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48840"/>
            <a:ext cx="3886200" cy="2428875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7818120" y="4687443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6136" y="4669154"/>
            <a:ext cx="3794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机载智控终端 · 遥控器端实机主界面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01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双光实时直播 — 火场尽收眼底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 + 红外热成像双通道，白天黑夜、有烟无烟都看得清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8" name="Picture 7" descr="visible-suns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5394960" cy="3273759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9" name="Rectangle 8"/>
          <p:cNvSpPr/>
          <p:nvPr/>
        </p:nvSpPr>
        <p:spPr>
          <a:xfrm>
            <a:off x="804672" y="5212287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19399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可见光通道 · 全屏火情监测画面（实机直播截图）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46520" y="4913112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4894824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红外热成像通道 · 一键切换，穿透烟雾锁定温度异常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" y="5806440"/>
            <a:ext cx="1019556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865876"/>
            <a:ext cx="10195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低延迟推流</a:t>
            </a:r>
            <a:endParaRPr sz="1200" b="0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025395" y="580644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25395" y="5865876"/>
            <a:ext cx="877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多路同屏</a:t>
            </a:r>
            <a:endParaRPr sz="1200" b="0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04387" y="5806440"/>
            <a:ext cx="877824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4387" y="5865876"/>
            <a:ext cx="8778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远程变焦</a:t>
            </a:r>
            <a:endParaRPr sz="1200" b="0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183379" y="580644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3A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3379" y="5865876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20"/>
              </a:spcAft>
            </a:pPr>
            <a:r>
              <a:rPr sz="1200" b="0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可见光/红外一键切换</a:t>
            </a:r>
            <a:endParaRPr sz="1200" b="0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39535" y="1811020"/>
            <a:ext cx="5135245" cy="2888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02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火情识别 — 7×24 小时智能瞭望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深度学习烟火检测模型持续分析直播画面，秒级发现、分级告警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8" name="Picture 7" descr="fire-ann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74519"/>
            <a:ext cx="5806440" cy="3266122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9" name="Rectangle 8"/>
          <p:cNvSpPr/>
          <p:nvPr/>
        </p:nvSpPr>
        <p:spPr>
          <a:xfrm>
            <a:off x="804672" y="5250370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232082"/>
            <a:ext cx="5715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真实燃烧试验 · AI 同时锁定烟雾与多个明火目标（含置信度）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949440" y="1874519"/>
            <a:ext cx="44348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020824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87183" y="1993391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🔥  烟·火双目标检测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87183" y="2350008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1920 像素高分辨率推理，远距离小目标也能捕捉，早于人眼发现。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49440" y="2953511"/>
            <a:ext cx="44348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3099815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87183" y="3072383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📊  三级风险分级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87183" y="3428999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低/中/高风险自动分级，一眼分清「需要关注」与「立即处置」。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49440" y="4032504"/>
            <a:ext cx="44348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4178808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4151376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🔕  智能去重告警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87183" y="4507992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时间窗去重，杜绝轰炸式重复告警，事件自动归档可回溯。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9440" y="5111496"/>
            <a:ext cx="44348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5257800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87183" y="5230368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♻️  持续巡检模式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87183" y="5586983"/>
            <a:ext cx="39776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随直播自动启停、断流自愈，无人值守全天候在线。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03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火点精准定位 — 从画面到坐标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射线-地形求交（Ray-DEM）算法：相机看到哪里，地图就标到哪里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92024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95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🎯  定位原理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5720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获取无人机实时位置、云台姿态与相机参数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由画面中的火点像素构建空间视线射线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射线与数字高程模型（DEM）地形求交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④ 解算出火点真实经纬度，自动落图标绘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9632" y="1920240"/>
            <a:ext cx="5212080" cy="3931920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95"/>
              </a:spcAft>
            </a:pPr>
            <a:r>
              <a:rPr sz="17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⚡  指挥价值</a:t>
            </a:r>
            <a:endParaRPr sz="17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AI 识别框即点即定位，不再依赖目视估算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山地复杂地形下依然给出可信坐标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坐标直接驱动后续灭火航线自动规划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Aft>
                <a:spcPts val="455"/>
              </a:spcAft>
            </a:pPr>
            <a:r>
              <a:rPr sz="13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处置力量「按图索骥」，大幅缩短找火时间</a:t>
            </a:r>
            <a:endParaRPr sz="13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04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灭火弹精准投放 — 发现即可扑灭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对接大载重灭火无人机（FC100），从火点坐标到灭火弹落点全自动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874519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020824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993391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🗺  灭火航线一键生成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" y="23500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基于火点坐标自动规划进场航点与投放点，规划即合规、即可飞。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" y="2953511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3099815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072383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✅  投放审批工作流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" y="3428999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申请—审批—执行全程在线留痕，重大处置有授权、可追溯。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4032504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178808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5137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🪂  到点悬停自动脱钩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" y="450799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抵达投放点自动悬停并脱钩投放，全程无需飞手手动干预。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2" y="5111496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5257800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523036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🛡  安全校验体系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416" y="5586983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航线安全检查与投放条件校验前置，每次投放安全可控。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4" name="Picture 23" descr="way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74519"/>
            <a:ext cx="5486400" cy="2895322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5989320" y="4879570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4861282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航线任务工作台 · 监测/灭火航线在线规划与一键下发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05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远程飞行控制 — 指挥室里的驾驶舱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指令从大屏直达机载端，秒级下发、秒级执行确认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874519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020824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993391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🎮  全要素远程操控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" y="2350008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云台回中、相机变焦、夜航灯、虚拟摇杆精调机位，一个面板全搞定。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" y="2953511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3099815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072383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⏱  秒级指令闭环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" y="3428999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下发—执行—确认全链路状态可见，每条指令都有明确回执。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4032504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178808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51376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💓  设备实时心跳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6" y="4507992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在线状态、电量、位置持续回传，设备健康一目了然。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2" y="5111496"/>
            <a:ext cx="4892040" cy="932688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" y="5257800"/>
            <a:ext cx="45720" cy="6400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5230368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5"/>
              </a:spcAft>
            </a:pPr>
            <a:r>
              <a:rPr sz="14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🌙  夜间作业能力</a:t>
            </a:r>
            <a:endParaRPr sz="14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416" y="5586983"/>
            <a:ext cx="4434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85"/>
              </a:spcAft>
            </a:pPr>
            <a:r>
              <a:rPr sz="11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夜航灯远程开启，夜间巡护与处置同样从容。</a:t>
            </a:r>
            <a:endParaRPr sz="11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4" name="Picture 23" descr="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874519"/>
            <a:ext cx="5486400" cy="3301815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25" name="Rectangle 24"/>
          <p:cNvSpPr/>
          <p:nvPr/>
        </p:nvSpPr>
        <p:spPr>
          <a:xfrm>
            <a:off x="5989320" y="5286063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5267775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夜间实飞 · 远程开启夜航灯，飞行面板实时操控（实机截图）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核心能力 06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领导驾驶舱 — 一屏纵览全局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为指挥决策而生的实时态势大屏（以下均为实机运行界面）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8" name="Picture 7" descr="cockp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828800"/>
            <a:ext cx="7315200" cy="3860430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9" name="Rectangle 8"/>
          <p:cNvSpPr/>
          <p:nvPr/>
        </p:nvSpPr>
        <p:spPr>
          <a:xfrm>
            <a:off x="804672" y="5798958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8067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森林灭火综合驾驶舱 · 活跃火情/风险等级/AI 识别/直播/投放任务一屏聚合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1" name="Picture 10" descr="cockpit-i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0"/>
            <a:ext cx="3246120" cy="1816351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8412480" y="3754879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3736591"/>
            <a:ext cx="31546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火情监测画面 · 红外模式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420624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实时态势图：火点热力与事件聚合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视频矩阵：可见光/红外一键切换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火情事件流：附快照与风险等级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全屏模式适配指挥中心大屏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实战验证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一次完整的火情处置，只需几分钟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核心功能均已完成真机实飞验证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920240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299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T+0</a:t>
            </a:r>
            <a:endParaRPr sz="125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87168" y="196596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无人机按既定航线自动巡航，AI 持续分析机载画面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" y="2596896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0662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T+发现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2642615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检出烟火目标并告警，红外热成像确认高温火点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4672" y="3273552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832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T+30 秒</a:t>
            </a:r>
            <a:endParaRPr sz="125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3319272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Ray-DEM 解算火点坐标，自动落图推送指挥大屏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4672" y="3950208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0599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T+1 分钟</a:t>
            </a:r>
            <a:endParaRPr sz="125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995928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指挥员大屏研判，审批通过灭火处置任务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4672" y="4626864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7365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T+数分钟</a:t>
            </a:r>
            <a:endParaRPr sz="125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467258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灭火机沿自动航线飞抵火点上空，悬停自动脱钩投放</a:t>
            </a:r>
            <a:endParaRPr sz="12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672" y="5303520"/>
            <a:ext cx="1463040" cy="530352"/>
          </a:xfrm>
          <a:prstGeom prst="roundRect">
            <a:avLst>
              <a:gd name="adj" fmla="val 30000"/>
            </a:avLst>
          </a:prstGeom>
          <a:solidFill>
            <a:srgbClr val="1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4132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35"/>
              </a:spcAft>
            </a:pPr>
            <a:r>
              <a:rPr sz="125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T+处置后</a:t>
            </a:r>
            <a:endParaRPr sz="125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5349240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巡查机回场复查，红外确认无复燃，数据归档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6" name="Picture 25" descr="drone-tru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920240"/>
            <a:ext cx="4160520" cy="2339346"/>
          </a:xfrm>
          <a:prstGeom prst="rect">
            <a:avLst/>
          </a:prstGeom>
          <a:ln w="15240">
            <a:solidFill>
              <a:srgbClr val="2E446B"/>
            </a:solidFill>
          </a:ln>
          <a:effectLst/>
        </p:spPr>
      </p:pic>
      <p:sp>
        <p:nvSpPr>
          <p:cNvPr id="27" name="Rectangle 26"/>
          <p:cNvSpPr/>
          <p:nvPr/>
        </p:nvSpPr>
        <p:spPr>
          <a:xfrm>
            <a:off x="7452360" y="4369314"/>
            <a:ext cx="45720" cy="2011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4351026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外场实飞 · 机动部署，随到随飞</a:t>
            </a:r>
            <a:endParaRPr sz="11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p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57200"/>
            <a:ext cx="6400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840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55"/>
              </a:spcAft>
            </a:pPr>
            <a:r>
              <a:rPr sz="1300" b="1">
                <a:solidFill>
                  <a:srgbClr val="3AC8E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为什么选择我们</a:t>
            </a:r>
            <a:endParaRPr sz="1300" b="1">
              <a:solidFill>
                <a:srgbClr val="3AC8E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676656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15"/>
              </a:spcAft>
            </a:pPr>
            <a:r>
              <a:rPr sz="29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不止于「看见」，更能「扑灭」</a:t>
            </a:r>
            <a:endParaRPr sz="29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4672" y="128016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70"/>
              </a:spcAft>
            </a:pPr>
            <a:r>
              <a:rPr sz="13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多数方案止步于监测告警，我们交付的是完整处置能力</a:t>
            </a:r>
            <a:endParaRPr sz="13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350"/>
              </a:spcAft>
            </a:pPr>
            <a:r>
              <a:rPr sz="1000" b="0">
                <a:solidFill>
                  <a:srgbClr val="6E7E9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UAVFIRE</a:t>
            </a:r>
            <a:endParaRPr sz="1000" b="0">
              <a:solidFill>
                <a:srgbClr val="6E7E9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" y="196596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5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🔁  端到端闭环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" y="2679191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业内少有的「识别—定位—投放」全链路打通方案，发现火情的系统同时就是扑灭火情的系统。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45351" y="196596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1" y="219456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1" y="2185415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✈️  真机实飞验证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1" y="2679191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全部核心功能在大疆行业机型上完成真机实飞验证——本册所有界面均为实机截图。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" y="411480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" y="434340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33425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🏗  成熟生态 + 自主平台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78992" y="4828032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底层依托大疆行业级飞行平台，上层业务系统完全自研，支持私有化部署与定制扩展。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5351" y="4114800"/>
            <a:ext cx="5166359" cy="1874519"/>
          </a:xfrm>
          <a:prstGeom prst="roundRect">
            <a:avLst>
              <a:gd name="adj" fmla="val 10000"/>
            </a:avLst>
          </a:prstGeom>
          <a:solidFill>
            <a:srgbClr val="142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1" y="4343400"/>
            <a:ext cx="45720" cy="1417319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1" y="4334256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75"/>
              </a:spcAft>
            </a:pPr>
            <a:r>
              <a:rPr sz="165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📈  面向集群演进</a:t>
            </a:r>
            <a:endParaRPr sz="165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9671" y="4828032"/>
            <a:ext cx="466344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35"/>
              </a:spcAft>
            </a:pPr>
            <a:r>
              <a:rPr sz="125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架构原生支持多机协同，可平滑扩展至多机巡护、集群投放的规模化作战形态。</a:t>
            </a:r>
            <a:endParaRPr sz="125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103120"/>
            <a:ext cx="10515600" cy="155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40"/>
              </a:spcAft>
            </a:pPr>
            <a:r>
              <a:rPr sz="4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让每一</a:t>
            </a:r>
            <a:r>
              <a:rPr lang="zh-CN" sz="4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次火情</a:t>
            </a:r>
            <a:endParaRPr sz="4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Aft>
                <a:spcPts val="1540"/>
              </a:spcAft>
            </a:pPr>
            <a:r>
              <a:rPr sz="4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都在</a:t>
            </a:r>
            <a:r>
              <a:rPr lang="zh-CN" sz="4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控制</a:t>
            </a:r>
            <a:r>
              <a:rPr sz="4400" b="1">
                <a:solidFill>
                  <a:srgbClr val="F5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之下</a:t>
            </a:r>
            <a:endParaRPr sz="4400" b="1">
              <a:solidFill>
                <a:srgbClr val="F5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6112" y="3794760"/>
            <a:ext cx="2377440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4023360"/>
            <a:ext cx="9144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60"/>
              </a:spcAft>
            </a:pPr>
            <a:r>
              <a:rPr sz="16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智能集群大载重无人机灭火系统 · 期待与您共筑</a:t>
            </a:r>
            <a:r>
              <a:rPr lang="zh-CN" sz="16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消防</a:t>
            </a:r>
            <a:r>
              <a:rPr sz="1600" b="0">
                <a:solidFill>
                  <a:srgbClr val="A8B6D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安全防线</a:t>
            </a:r>
            <a:endParaRPr sz="1600" b="0">
              <a:solidFill>
                <a:srgbClr val="A8B6D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77824" y="4846320"/>
            <a:ext cx="3840480" cy="548640"/>
          </a:xfrm>
          <a:prstGeom prst="roundRect">
            <a:avLst>
              <a:gd name="adj" fmla="val 50000"/>
            </a:avLst>
          </a:prstGeom>
          <a:solidFill>
            <a:srgbClr val="1B2E4F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9651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525"/>
              </a:spcAft>
            </a:pPr>
            <a:r>
              <a:rPr sz="1500" b="1">
                <a:solidFill>
                  <a:srgbClr val="FFB0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预约现场演示 · 欢迎垂询</a:t>
            </a:r>
            <a:endParaRPr sz="1500" b="1">
              <a:solidFill>
                <a:srgbClr val="FFB0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WPS 演示</Application>
  <PresentationFormat>On-screen Show (4:3)</PresentationFormat>
  <Paragraphs>310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不二U1丶</cp:lastModifiedBy>
  <cp:revision>3</cp:revision>
  <dcterms:created xsi:type="dcterms:W3CDTF">2026-06-11T02:56:41Z</dcterms:created>
  <dcterms:modified xsi:type="dcterms:W3CDTF">2026-06-11T02:56:41Z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53CB60D1F6BC60A547C2296A7003BCE8_42</vt:lpwstr>
  </property>
  <property fmtid="{D5CDD505-2E9C-101B-9397-08002B2CF9AE}" pid="3" name="KSOProductBuildVer">
    <vt:lpwstr>2052-6.7.1.8828</vt:lpwstr>
  </property>
</Properties>
</file>